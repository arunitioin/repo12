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72" r:id="rId14"/>
    <p:sldId id="267" r:id="rId15"/>
    <p:sldId id="273" r:id="rId16"/>
    <p:sldId id="269" r:id="rId17"/>
    <p:sldId id="274" r:id="rId18"/>
    <p:sldId id="268"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A99B1DD-E094-464B-9645-454E51339132}" type="datetimeFigureOut">
              <a:rPr lang="en-IN" smtClean="0"/>
              <a:t>11-10-2024</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756C49F-3377-4085-9CB7-94F560887D01}" type="slidenum">
              <a:rPr lang="en-IN" smtClean="0"/>
              <a:t>‹#›</a:t>
            </a:fld>
            <a:endParaRPr lang="en-IN"/>
          </a:p>
        </p:txBody>
      </p:sp>
    </p:spTree>
    <p:extLst>
      <p:ext uri="{BB962C8B-B14F-4D97-AF65-F5344CB8AC3E}">
        <p14:creationId xmlns:p14="http://schemas.microsoft.com/office/powerpoint/2010/main" val="341258332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99B1DD-E094-464B-9645-454E51339132}" type="datetimeFigureOut">
              <a:rPr lang="en-IN" smtClean="0"/>
              <a:t>11-10-2024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756C49F-3377-4085-9CB7-94F560887D01}" type="slidenum">
              <a:rPr lang="en-IN" smtClean="0"/>
              <a:t>‹#›</a:t>
            </a:fld>
            <a:endParaRPr lang="en-IN"/>
          </a:p>
        </p:txBody>
      </p:sp>
    </p:spTree>
    <p:extLst>
      <p:ext uri="{BB962C8B-B14F-4D97-AF65-F5344CB8AC3E}">
        <p14:creationId xmlns:p14="http://schemas.microsoft.com/office/powerpoint/2010/main" val="2693881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2A99B1DD-E094-464B-9645-454E51339132}" type="datetimeFigureOut">
              <a:rPr lang="en-IN" smtClean="0"/>
              <a:t>11-10-2024</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B756C49F-3377-4085-9CB7-94F560887D01}" type="slidenum">
              <a:rPr lang="en-IN" smtClean="0"/>
              <a:t>‹#›</a:t>
            </a:fld>
            <a:endParaRPr lang="en-IN"/>
          </a:p>
        </p:txBody>
      </p:sp>
    </p:spTree>
    <p:extLst>
      <p:ext uri="{BB962C8B-B14F-4D97-AF65-F5344CB8AC3E}">
        <p14:creationId xmlns:p14="http://schemas.microsoft.com/office/powerpoint/2010/main" val="3505265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99B1DD-E094-464B-9645-454E51339132}" type="datetimeFigureOut">
              <a:rPr lang="en-IN" smtClean="0"/>
              <a:t>11-10-2024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56C49F-3377-4085-9CB7-94F560887D01}" type="slidenum">
              <a:rPr lang="en-IN" smtClean="0"/>
              <a:t>‹#›</a:t>
            </a:fld>
            <a:endParaRPr lang="en-IN"/>
          </a:p>
        </p:txBody>
      </p:sp>
    </p:spTree>
    <p:extLst>
      <p:ext uri="{BB962C8B-B14F-4D97-AF65-F5344CB8AC3E}">
        <p14:creationId xmlns:p14="http://schemas.microsoft.com/office/powerpoint/2010/main" val="3697242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99B1DD-E094-464B-9645-454E51339132}" type="datetimeFigureOut">
              <a:rPr lang="en-IN" smtClean="0"/>
              <a:t>11-10-2024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756C49F-3377-4085-9CB7-94F560887D01}" type="slidenum">
              <a:rPr lang="en-IN" smtClean="0"/>
              <a:t>‹#›</a:t>
            </a:fld>
            <a:endParaRPr lang="en-IN"/>
          </a:p>
        </p:txBody>
      </p:sp>
    </p:spTree>
    <p:extLst>
      <p:ext uri="{BB962C8B-B14F-4D97-AF65-F5344CB8AC3E}">
        <p14:creationId xmlns:p14="http://schemas.microsoft.com/office/powerpoint/2010/main" val="3435036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99B1DD-E094-464B-9645-454E51339132}" type="datetimeFigureOut">
              <a:rPr lang="en-IN" smtClean="0"/>
              <a:t>11-10-2024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756C49F-3377-4085-9CB7-94F560887D01}" type="slidenum">
              <a:rPr lang="en-IN" smtClean="0"/>
              <a:t>‹#›</a:t>
            </a:fld>
            <a:endParaRPr lang="en-IN"/>
          </a:p>
        </p:txBody>
      </p:sp>
    </p:spTree>
    <p:extLst>
      <p:ext uri="{BB962C8B-B14F-4D97-AF65-F5344CB8AC3E}">
        <p14:creationId xmlns:p14="http://schemas.microsoft.com/office/powerpoint/2010/main" val="2328473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99B1DD-E094-464B-9645-454E51339132}" type="datetimeFigureOut">
              <a:rPr lang="en-IN" smtClean="0"/>
              <a:t>11-10-2024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756C49F-3377-4085-9CB7-94F560887D01}" type="slidenum">
              <a:rPr lang="en-IN" smtClean="0"/>
              <a:t>‹#›</a:t>
            </a:fld>
            <a:endParaRPr lang="en-IN"/>
          </a:p>
        </p:txBody>
      </p:sp>
    </p:spTree>
    <p:extLst>
      <p:ext uri="{BB962C8B-B14F-4D97-AF65-F5344CB8AC3E}">
        <p14:creationId xmlns:p14="http://schemas.microsoft.com/office/powerpoint/2010/main" val="1304409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A99B1DD-E094-464B-9645-454E51339132}" type="datetimeFigureOut">
              <a:rPr lang="en-IN" smtClean="0"/>
              <a:t>11-10-2024</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B756C49F-3377-4085-9CB7-94F560887D01}"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27973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2A99B1DD-E094-464B-9645-454E51339132}" type="datetimeFigureOut">
              <a:rPr lang="en-IN" smtClean="0"/>
              <a:t>11-10-2024</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B756C49F-3377-4085-9CB7-94F560887D01}"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3606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99B1DD-E094-464B-9645-454E51339132}"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56C49F-3377-4085-9CB7-94F560887D01}" type="slidenum">
              <a:rPr lang="en-IN" smtClean="0"/>
              <a:t>‹#›</a:t>
            </a:fld>
            <a:endParaRPr lang="en-IN"/>
          </a:p>
        </p:txBody>
      </p:sp>
    </p:spTree>
    <p:extLst>
      <p:ext uri="{BB962C8B-B14F-4D97-AF65-F5344CB8AC3E}">
        <p14:creationId xmlns:p14="http://schemas.microsoft.com/office/powerpoint/2010/main" val="2270234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99B1DD-E094-464B-9645-454E51339132}"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56C49F-3377-4085-9CB7-94F560887D01}" type="slidenum">
              <a:rPr lang="en-IN" smtClean="0"/>
              <a:t>‹#›</a:t>
            </a:fld>
            <a:endParaRPr lang="en-IN"/>
          </a:p>
        </p:txBody>
      </p:sp>
    </p:spTree>
    <p:extLst>
      <p:ext uri="{BB962C8B-B14F-4D97-AF65-F5344CB8AC3E}">
        <p14:creationId xmlns:p14="http://schemas.microsoft.com/office/powerpoint/2010/main" val="352588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A99B1DD-E094-464B-9645-454E51339132}" type="datetimeFigureOut">
              <a:rPr lang="en-IN" smtClean="0"/>
              <a:t>11-10-2024</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B756C49F-3377-4085-9CB7-94F560887D01}" type="slidenum">
              <a:rPr lang="en-IN" smtClean="0"/>
              <a:t>‹#›</a:t>
            </a:fld>
            <a:endParaRPr lang="en-IN"/>
          </a:p>
        </p:txBody>
      </p:sp>
    </p:spTree>
    <p:extLst>
      <p:ext uri="{BB962C8B-B14F-4D97-AF65-F5344CB8AC3E}">
        <p14:creationId xmlns:p14="http://schemas.microsoft.com/office/powerpoint/2010/main" val="38104795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link.springer.com/article/10.1007/s10796-023-10382-w?formCode=MG0AV3"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8FCDC-8F33-27B8-1F01-534C5FB3D577}"/>
              </a:ext>
            </a:extLst>
          </p:cNvPr>
          <p:cNvSpPr>
            <a:spLocks noGrp="1"/>
          </p:cNvSpPr>
          <p:nvPr>
            <p:ph type="ctrTitle"/>
          </p:nvPr>
        </p:nvSpPr>
        <p:spPr>
          <a:xfrm>
            <a:off x="1561708" y="2091263"/>
            <a:ext cx="9068586" cy="1576169"/>
          </a:xfrm>
        </p:spPr>
        <p:txBody>
          <a:bodyPr/>
          <a:lstStyle/>
          <a:p>
            <a:r>
              <a:rPr lang="en-IN" sz="3600" b="0" i="0" dirty="0">
                <a:solidFill>
                  <a:srgbClr val="282523"/>
                </a:solidFill>
                <a:effectLst/>
                <a:latin typeface="Ginto"/>
              </a:rPr>
              <a:t>Crypto Token Development </a:t>
            </a:r>
            <a:endParaRPr lang="en-IN" sz="3600" dirty="0"/>
          </a:p>
        </p:txBody>
      </p:sp>
      <p:sp>
        <p:nvSpPr>
          <p:cNvPr id="3" name="Subtitle 2">
            <a:extLst>
              <a:ext uri="{FF2B5EF4-FFF2-40B4-BE49-F238E27FC236}">
                <a16:creationId xmlns:a16="http://schemas.microsoft.com/office/drawing/2014/main" id="{577D760F-A2AB-B938-4081-F0EADCC8AC93}"/>
              </a:ext>
            </a:extLst>
          </p:cNvPr>
          <p:cNvSpPr>
            <a:spLocks noGrp="1"/>
          </p:cNvSpPr>
          <p:nvPr>
            <p:ph type="subTitle" idx="1"/>
          </p:nvPr>
        </p:nvSpPr>
        <p:spPr>
          <a:xfrm>
            <a:off x="1562100" y="3563094"/>
            <a:ext cx="9070848" cy="1576169"/>
          </a:xfrm>
        </p:spPr>
        <p:txBody>
          <a:bodyPr>
            <a:normAutofit/>
          </a:bodyPr>
          <a:lstStyle/>
          <a:p>
            <a:pPr algn="l"/>
            <a:r>
              <a:rPr lang="en-US" sz="2000" b="1" i="1" dirty="0">
                <a:solidFill>
                  <a:srgbClr val="282523"/>
                </a:solidFill>
                <a:effectLst/>
                <a:latin typeface="Ginto"/>
              </a:rPr>
              <a:t>                             Building Digital Assets on Blockchain </a:t>
            </a:r>
          </a:p>
          <a:p>
            <a:pPr algn="l"/>
            <a:endParaRPr lang="en-US" sz="2000" b="1" i="1" dirty="0">
              <a:solidFill>
                <a:srgbClr val="282523"/>
              </a:solidFill>
              <a:latin typeface="Ginto"/>
            </a:endParaRPr>
          </a:p>
          <a:p>
            <a:pPr algn="l"/>
            <a:r>
              <a:rPr lang="en-US" sz="2000" b="1" i="1" dirty="0">
                <a:solidFill>
                  <a:srgbClr val="282523"/>
                </a:solidFill>
                <a:effectLst/>
                <a:latin typeface="Ginto"/>
              </a:rPr>
              <a:t>Name – Sanskar Singh</a:t>
            </a:r>
          </a:p>
          <a:p>
            <a:pPr algn="l"/>
            <a:r>
              <a:rPr lang="en-US" sz="2000" b="1" i="1" dirty="0">
                <a:solidFill>
                  <a:srgbClr val="282523"/>
                </a:solidFill>
                <a:latin typeface="Ginto"/>
              </a:rPr>
              <a:t>Date- 10/10/2024	</a:t>
            </a:r>
            <a:endParaRPr lang="en-US" sz="2000" b="1" i="1" dirty="0">
              <a:solidFill>
                <a:srgbClr val="282523"/>
              </a:solidFill>
              <a:effectLst/>
              <a:latin typeface="Ginto"/>
            </a:endParaRPr>
          </a:p>
          <a:p>
            <a:endParaRPr lang="en-US" sz="2000" b="1" i="1" dirty="0">
              <a:solidFill>
                <a:srgbClr val="282523"/>
              </a:solidFill>
              <a:latin typeface="Ginto"/>
            </a:endParaRPr>
          </a:p>
          <a:p>
            <a:endParaRPr lang="en-US" sz="2000" b="1" i="1" dirty="0">
              <a:solidFill>
                <a:srgbClr val="282523"/>
              </a:solidFill>
              <a:latin typeface="Ginto"/>
            </a:endParaRPr>
          </a:p>
        </p:txBody>
      </p:sp>
    </p:spTree>
    <p:extLst>
      <p:ext uri="{BB962C8B-B14F-4D97-AF65-F5344CB8AC3E}">
        <p14:creationId xmlns:p14="http://schemas.microsoft.com/office/powerpoint/2010/main" val="41002256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7E3AD-6AE5-7EEA-82E5-7009C85B3E61}"/>
              </a:ext>
            </a:extLst>
          </p:cNvPr>
          <p:cNvSpPr>
            <a:spLocks noGrp="1"/>
          </p:cNvSpPr>
          <p:nvPr>
            <p:ph type="title"/>
          </p:nvPr>
        </p:nvSpPr>
        <p:spPr/>
        <p:txBody>
          <a:bodyPr>
            <a:normAutofit fontScale="90000"/>
          </a:bodyPr>
          <a:lstStyle/>
          <a:p>
            <a:pPr algn="ctr"/>
            <a:r>
              <a:rPr lang="en-IN" b="1" i="0" dirty="0">
                <a:solidFill>
                  <a:srgbClr val="282523"/>
                </a:solidFill>
                <a:effectLst/>
                <a:latin typeface="Ginto"/>
              </a:rPr>
              <a:t>Introduction</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6483F74F-F0A7-1DF8-45FB-7281685EC632}"/>
              </a:ext>
            </a:extLst>
          </p:cNvPr>
          <p:cNvSpPr>
            <a:spLocks noGrp="1"/>
          </p:cNvSpPr>
          <p:nvPr>
            <p:ph idx="1"/>
          </p:nvPr>
        </p:nvSpPr>
        <p:spPr>
          <a:xfrm>
            <a:off x="1066800" y="1366684"/>
            <a:ext cx="10058400" cy="4668356"/>
          </a:xfrm>
        </p:spPr>
        <p:txBody>
          <a:bodyPr/>
          <a:lstStyle/>
          <a:p>
            <a:pPr algn="l">
              <a:lnSpc>
                <a:spcPct val="150000"/>
              </a:lnSpc>
            </a:pPr>
            <a:r>
              <a:rPr lang="en-US" sz="2400" b="1" i="0" dirty="0">
                <a:solidFill>
                  <a:srgbClr val="282523"/>
                </a:solidFill>
                <a:effectLst/>
                <a:latin typeface="Ginto"/>
              </a:rPr>
              <a:t>What is a Crypto Token?</a:t>
            </a:r>
            <a:endParaRPr lang="en-US" sz="2400" b="0" i="0" dirty="0">
              <a:solidFill>
                <a:srgbClr val="282523"/>
              </a:solidFill>
              <a:effectLst/>
              <a:latin typeface="Ginto"/>
            </a:endParaRPr>
          </a:p>
          <a:p>
            <a:pPr algn="l">
              <a:lnSpc>
                <a:spcPct val="150000"/>
              </a:lnSpc>
              <a:buFont typeface="Arial" panose="020B0604020202020204" pitchFamily="34" charset="0"/>
              <a:buChar char="•"/>
            </a:pPr>
            <a:r>
              <a:rPr lang="en-US" sz="2400" b="0" i="0" dirty="0">
                <a:solidFill>
                  <a:srgbClr val="282523"/>
                </a:solidFill>
                <a:effectLst/>
                <a:latin typeface="Ginto"/>
              </a:rPr>
              <a:t>A crypto token is a digital asset created on a blockchain. Unlike cryptocurrencies like Bitcoin, which function as standalone digital currencies, tokens are built on existing blockchains and can represent a variety of assets or utilities.</a:t>
            </a:r>
          </a:p>
          <a:p>
            <a:pPr algn="l">
              <a:lnSpc>
                <a:spcPct val="150000"/>
              </a:lnSpc>
              <a:buFont typeface="Arial" panose="020B0604020202020204" pitchFamily="34" charset="0"/>
              <a:buChar char="•"/>
            </a:pPr>
            <a:r>
              <a:rPr lang="en-US" sz="2400" b="0" i="0" dirty="0">
                <a:solidFill>
                  <a:srgbClr val="282523"/>
                </a:solidFill>
                <a:effectLst/>
                <a:latin typeface="Ginto"/>
              </a:rPr>
              <a:t>Tokens are integral to decentralized applications (</a:t>
            </a:r>
            <a:r>
              <a:rPr lang="en-US" sz="2400" b="0" i="0" dirty="0" err="1">
                <a:solidFill>
                  <a:srgbClr val="282523"/>
                </a:solidFill>
                <a:effectLst/>
                <a:latin typeface="Ginto"/>
              </a:rPr>
              <a:t>DApps</a:t>
            </a:r>
            <a:r>
              <a:rPr lang="en-US" sz="2400" b="0" i="0" dirty="0">
                <a:solidFill>
                  <a:srgbClr val="282523"/>
                </a:solidFill>
                <a:effectLst/>
                <a:latin typeface="Ginto"/>
              </a:rPr>
              <a:t>) and are used to access various services, represent ownership of assets, and participate in governance mechanisms within a blockchain ecosystem.</a:t>
            </a:r>
          </a:p>
          <a:p>
            <a:endParaRPr lang="en-IN" dirty="0"/>
          </a:p>
        </p:txBody>
      </p:sp>
    </p:spTree>
    <p:extLst>
      <p:ext uri="{BB962C8B-B14F-4D97-AF65-F5344CB8AC3E}">
        <p14:creationId xmlns:p14="http://schemas.microsoft.com/office/powerpoint/2010/main" val="20901390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54C6F-8E71-2581-0CFF-C356E5B0DE6C}"/>
              </a:ext>
            </a:extLst>
          </p:cNvPr>
          <p:cNvSpPr>
            <a:spLocks noGrp="1"/>
          </p:cNvSpPr>
          <p:nvPr>
            <p:ph type="title"/>
          </p:nvPr>
        </p:nvSpPr>
        <p:spPr>
          <a:xfrm>
            <a:off x="550606" y="1297858"/>
            <a:ext cx="6577781" cy="678426"/>
          </a:xfrm>
        </p:spPr>
        <p:txBody>
          <a:bodyPr>
            <a:normAutofit fontScale="90000"/>
          </a:bodyPr>
          <a:lstStyle/>
          <a:p>
            <a:r>
              <a:rPr lang="en-IN" b="1" i="0" dirty="0">
                <a:solidFill>
                  <a:srgbClr val="282523"/>
                </a:solidFill>
                <a:effectLst/>
                <a:latin typeface="Ginto"/>
              </a:rPr>
              <a:t> Types of Crypto Tokens</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4A6C4626-471C-21F8-EB31-C0CF79DF63B7}"/>
              </a:ext>
            </a:extLst>
          </p:cNvPr>
          <p:cNvSpPr>
            <a:spLocks noGrp="1"/>
          </p:cNvSpPr>
          <p:nvPr>
            <p:ph idx="1"/>
          </p:nvPr>
        </p:nvSpPr>
        <p:spPr>
          <a:xfrm>
            <a:off x="550606" y="2448231"/>
            <a:ext cx="11277600" cy="3932903"/>
          </a:xfrm>
        </p:spPr>
        <p:txBody>
          <a:bodyPr>
            <a:normAutofit/>
          </a:bodyPr>
          <a:lstStyle/>
          <a:p>
            <a:pPr algn="l"/>
            <a:r>
              <a:rPr lang="en-US" sz="2000" b="1" i="0" dirty="0">
                <a:solidFill>
                  <a:srgbClr val="282523"/>
                </a:solidFill>
                <a:effectLst/>
                <a:latin typeface="Ginto"/>
              </a:rPr>
              <a:t>Utility Tokens</a:t>
            </a:r>
            <a:endParaRPr lang="en-US" sz="2000" b="0" i="0" dirty="0">
              <a:solidFill>
                <a:srgbClr val="282523"/>
              </a:solidFill>
              <a:effectLst/>
              <a:latin typeface="Ginto"/>
            </a:endParaRPr>
          </a:p>
          <a:p>
            <a:pPr algn="l">
              <a:buFont typeface="Arial" panose="020B0604020202020204" pitchFamily="34" charset="0"/>
              <a:buChar char="•"/>
            </a:pPr>
            <a:r>
              <a:rPr lang="en-US" sz="2000" b="0" i="0" dirty="0">
                <a:solidFill>
                  <a:srgbClr val="282523"/>
                </a:solidFill>
                <a:effectLst/>
                <a:latin typeface="Ginto"/>
              </a:rPr>
              <a:t>Purpose: Used to access services or products within a blockchain ecosystem. Examples include Ether (ETH) on the Ethereum network, used to pay for transaction fees and computational services.</a:t>
            </a:r>
          </a:p>
          <a:p>
            <a:pPr algn="l">
              <a:buFont typeface="Arial" panose="020B0604020202020204" pitchFamily="34" charset="0"/>
              <a:buChar char="•"/>
            </a:pPr>
            <a:r>
              <a:rPr lang="en-US" sz="2000" b="0" i="0" dirty="0">
                <a:solidFill>
                  <a:srgbClr val="282523"/>
                </a:solidFill>
                <a:effectLst/>
                <a:latin typeface="Ginto"/>
              </a:rPr>
              <a:t>Examples: Ethereum’s Ether (ETH), Binance Coin (BNB)</a:t>
            </a:r>
          </a:p>
          <a:p>
            <a:pPr algn="l"/>
            <a:r>
              <a:rPr lang="en-US" sz="2000" b="1" i="0" dirty="0">
                <a:solidFill>
                  <a:srgbClr val="282523"/>
                </a:solidFill>
                <a:effectLst/>
                <a:latin typeface="Ginto"/>
              </a:rPr>
              <a:t>Security Tokens</a:t>
            </a:r>
            <a:endParaRPr lang="en-US" sz="2000" b="0" i="0" dirty="0">
              <a:solidFill>
                <a:srgbClr val="282523"/>
              </a:solidFill>
              <a:effectLst/>
              <a:latin typeface="Ginto"/>
            </a:endParaRPr>
          </a:p>
          <a:p>
            <a:pPr algn="l">
              <a:buFont typeface="Arial" panose="020B0604020202020204" pitchFamily="34" charset="0"/>
              <a:buChar char="•"/>
            </a:pPr>
            <a:r>
              <a:rPr lang="en-US" sz="2000" b="0" i="0" dirty="0">
                <a:solidFill>
                  <a:srgbClr val="282523"/>
                </a:solidFill>
                <a:effectLst/>
                <a:latin typeface="Ginto"/>
              </a:rPr>
              <a:t>Purpose: Represent ownership in an asset, similar to traditional securities. These tokens are subject to federal securities regulations.</a:t>
            </a:r>
          </a:p>
          <a:p>
            <a:pPr algn="l">
              <a:buFont typeface="Arial" panose="020B0604020202020204" pitchFamily="34" charset="0"/>
              <a:buChar char="•"/>
            </a:pPr>
            <a:r>
              <a:rPr lang="en-US" sz="2000" b="0" i="0" dirty="0">
                <a:solidFill>
                  <a:srgbClr val="282523"/>
                </a:solidFill>
                <a:effectLst/>
                <a:latin typeface="Ginto"/>
              </a:rPr>
              <a:t>Examples: Tokenized stocks, real estate tokens</a:t>
            </a:r>
          </a:p>
          <a:p>
            <a:endParaRPr lang="en-IN" dirty="0"/>
          </a:p>
        </p:txBody>
      </p:sp>
    </p:spTree>
    <p:extLst>
      <p:ext uri="{BB962C8B-B14F-4D97-AF65-F5344CB8AC3E}">
        <p14:creationId xmlns:p14="http://schemas.microsoft.com/office/powerpoint/2010/main" val="11140742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5AF5F-AA10-73EB-15CE-21A2ED8A1220}"/>
              </a:ext>
            </a:extLst>
          </p:cNvPr>
          <p:cNvSpPr>
            <a:spLocks noGrp="1"/>
          </p:cNvSpPr>
          <p:nvPr>
            <p:ph idx="1"/>
          </p:nvPr>
        </p:nvSpPr>
        <p:spPr>
          <a:xfrm>
            <a:off x="875071" y="1641987"/>
            <a:ext cx="10250129" cy="4393053"/>
          </a:xfrm>
        </p:spPr>
        <p:txBody>
          <a:bodyPr/>
          <a:lstStyle/>
          <a:p>
            <a:pPr algn="l"/>
            <a:r>
              <a:rPr lang="en-US" sz="2000" b="1" i="0" dirty="0">
                <a:solidFill>
                  <a:srgbClr val="282523"/>
                </a:solidFill>
                <a:effectLst/>
                <a:latin typeface="Ginto"/>
              </a:rPr>
              <a:t>Governance Tokens</a:t>
            </a:r>
            <a:endParaRPr lang="en-US" sz="2000" b="0" i="0" dirty="0">
              <a:solidFill>
                <a:srgbClr val="282523"/>
              </a:solidFill>
              <a:effectLst/>
              <a:latin typeface="Ginto"/>
            </a:endParaRPr>
          </a:p>
          <a:p>
            <a:pPr algn="l">
              <a:buFont typeface="Arial" panose="020B0604020202020204" pitchFamily="34" charset="0"/>
              <a:buChar char="•"/>
            </a:pPr>
            <a:r>
              <a:rPr lang="en-US" sz="2000" b="0" i="0" dirty="0">
                <a:solidFill>
                  <a:srgbClr val="282523"/>
                </a:solidFill>
                <a:effectLst/>
                <a:latin typeface="Ginto"/>
              </a:rPr>
              <a:t>Purpose: Allow holders to participate in the decision-making processes of a project. Token holders can vote on proposals and changes to the protocol.</a:t>
            </a:r>
          </a:p>
          <a:p>
            <a:pPr algn="l">
              <a:buFont typeface="Arial" panose="020B0604020202020204" pitchFamily="34" charset="0"/>
              <a:buChar char="•"/>
            </a:pPr>
            <a:r>
              <a:rPr lang="en-US" sz="2000" b="0" i="0" dirty="0">
                <a:solidFill>
                  <a:srgbClr val="282523"/>
                </a:solidFill>
                <a:effectLst/>
                <a:latin typeface="Ginto"/>
              </a:rPr>
              <a:t>Examples: Uniswap’s UNI, Compound’s COMP</a:t>
            </a:r>
          </a:p>
          <a:p>
            <a:pPr algn="l"/>
            <a:r>
              <a:rPr lang="en-US" sz="2000" b="1" i="0" dirty="0">
                <a:solidFill>
                  <a:srgbClr val="282523"/>
                </a:solidFill>
                <a:effectLst/>
                <a:latin typeface="Ginto"/>
              </a:rPr>
              <a:t>Non-Fungible Tokens (NFTs)</a:t>
            </a:r>
            <a:endParaRPr lang="en-US" sz="2000" b="0" i="0" dirty="0">
              <a:solidFill>
                <a:srgbClr val="282523"/>
              </a:solidFill>
              <a:effectLst/>
              <a:latin typeface="Ginto"/>
            </a:endParaRPr>
          </a:p>
          <a:p>
            <a:pPr algn="l">
              <a:buFont typeface="Arial" panose="020B0604020202020204" pitchFamily="34" charset="0"/>
              <a:buChar char="•"/>
            </a:pPr>
            <a:r>
              <a:rPr lang="en-US" sz="2000" b="0" i="0" dirty="0">
                <a:solidFill>
                  <a:srgbClr val="282523"/>
                </a:solidFill>
                <a:effectLst/>
                <a:latin typeface="Ginto"/>
              </a:rPr>
              <a:t>Purpose: Represent unique digital assets, such as art, collectibles, or in-game items. Each NFT is distinct and cannot be exchanged on a one-to-one basis with another NFT.</a:t>
            </a:r>
          </a:p>
          <a:p>
            <a:pPr algn="l">
              <a:buFont typeface="Arial" panose="020B0604020202020204" pitchFamily="34" charset="0"/>
              <a:buChar char="•"/>
            </a:pPr>
            <a:r>
              <a:rPr lang="en-US" sz="2000" b="0" i="0" dirty="0">
                <a:solidFill>
                  <a:srgbClr val="282523"/>
                </a:solidFill>
                <a:effectLst/>
                <a:latin typeface="Ginto"/>
              </a:rPr>
              <a:t>Examples: </a:t>
            </a:r>
            <a:r>
              <a:rPr lang="en-US" sz="2000" b="0" i="0" dirty="0" err="1">
                <a:solidFill>
                  <a:srgbClr val="282523"/>
                </a:solidFill>
                <a:effectLst/>
                <a:latin typeface="Ginto"/>
              </a:rPr>
              <a:t>CryptoPunks</a:t>
            </a:r>
            <a:r>
              <a:rPr lang="en-US" sz="2000" b="0" i="0" dirty="0">
                <a:solidFill>
                  <a:srgbClr val="282523"/>
                </a:solidFill>
                <a:effectLst/>
                <a:latin typeface="Ginto"/>
              </a:rPr>
              <a:t>, Bored Ape Yacht Club</a:t>
            </a:r>
          </a:p>
          <a:p>
            <a:endParaRPr lang="en-IN" dirty="0"/>
          </a:p>
        </p:txBody>
      </p:sp>
    </p:spTree>
    <p:extLst>
      <p:ext uri="{BB962C8B-B14F-4D97-AF65-F5344CB8AC3E}">
        <p14:creationId xmlns:p14="http://schemas.microsoft.com/office/powerpoint/2010/main" val="2700496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FB8EE-70CB-286F-37F1-368B7CDF996E}"/>
              </a:ext>
            </a:extLst>
          </p:cNvPr>
          <p:cNvSpPr>
            <a:spLocks noGrp="1"/>
          </p:cNvSpPr>
          <p:nvPr>
            <p:ph type="title"/>
          </p:nvPr>
        </p:nvSpPr>
        <p:spPr>
          <a:xfrm>
            <a:off x="363794" y="589934"/>
            <a:ext cx="8052619" cy="904569"/>
          </a:xfrm>
        </p:spPr>
        <p:txBody>
          <a:bodyPr>
            <a:normAutofit fontScale="90000"/>
          </a:bodyPr>
          <a:lstStyle/>
          <a:p>
            <a:r>
              <a:rPr lang="en-IN" b="1" i="0" dirty="0">
                <a:solidFill>
                  <a:srgbClr val="282523"/>
                </a:solidFill>
                <a:effectLst/>
                <a:latin typeface="Ginto"/>
              </a:rPr>
              <a:t>The Development Process</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C7FE7702-2538-305A-A781-66DD3742CA57}"/>
              </a:ext>
            </a:extLst>
          </p:cNvPr>
          <p:cNvSpPr>
            <a:spLocks noGrp="1"/>
          </p:cNvSpPr>
          <p:nvPr>
            <p:ph idx="1"/>
          </p:nvPr>
        </p:nvSpPr>
        <p:spPr>
          <a:xfrm>
            <a:off x="363794" y="1297858"/>
            <a:ext cx="10761406" cy="4737182"/>
          </a:xfrm>
        </p:spPr>
        <p:txBody>
          <a:bodyPr>
            <a:normAutofit fontScale="92500" lnSpcReduction="20000"/>
          </a:bodyPr>
          <a:lstStyle/>
          <a:p>
            <a:pPr algn="l">
              <a:lnSpc>
                <a:spcPct val="150000"/>
              </a:lnSpc>
            </a:pPr>
            <a:r>
              <a:rPr lang="en-US" b="1" i="0" dirty="0">
                <a:solidFill>
                  <a:srgbClr val="282523"/>
                </a:solidFill>
                <a:effectLst/>
                <a:latin typeface="Ginto"/>
              </a:rPr>
              <a:t>Conceptualization</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Define the purpose and utility of the token. Identify the problem it aims to solve and its value proposition.</a:t>
            </a:r>
          </a:p>
          <a:p>
            <a:pPr algn="l">
              <a:lnSpc>
                <a:spcPct val="150000"/>
              </a:lnSpc>
            </a:pPr>
            <a:r>
              <a:rPr lang="en-US" b="1" i="0" dirty="0">
                <a:solidFill>
                  <a:srgbClr val="282523"/>
                </a:solidFill>
                <a:effectLst/>
                <a:latin typeface="Ginto"/>
              </a:rPr>
              <a:t>White Paper Creation</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Draft a comprehensive document that outlines the project’s vision, technology, use cases, and roadmap. The white paper serves as a blueprint for the token and is crucial for attracting investors and building trust.</a:t>
            </a:r>
          </a:p>
          <a:p>
            <a:pPr algn="l">
              <a:lnSpc>
                <a:spcPct val="150000"/>
              </a:lnSpc>
            </a:pPr>
            <a:r>
              <a:rPr lang="en-US" b="1" i="0" dirty="0">
                <a:solidFill>
                  <a:srgbClr val="282523"/>
                </a:solidFill>
                <a:effectLst/>
                <a:latin typeface="Ginto"/>
              </a:rPr>
              <a:t>Technical Design</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Plan the architecture of the token and select the appropriate blockchain platform. Define the technical requirements and develop a scalable and secure infrastructure.</a:t>
            </a:r>
          </a:p>
          <a:p>
            <a:pPr algn="l">
              <a:lnSpc>
                <a:spcPct val="150000"/>
              </a:lnSpc>
            </a:pPr>
            <a:r>
              <a:rPr lang="en-US" b="1" i="0" dirty="0">
                <a:solidFill>
                  <a:srgbClr val="282523"/>
                </a:solidFill>
                <a:effectLst/>
                <a:latin typeface="Ginto"/>
              </a:rPr>
              <a:t>Smart Contract Development</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Code the smart contracts that will govern the token’s behavior. Test the contracts thoroughly to ensure they function as intended and are secure from vulnerabilities.</a:t>
            </a:r>
          </a:p>
          <a:p>
            <a:endParaRPr lang="en-IN" dirty="0"/>
          </a:p>
        </p:txBody>
      </p:sp>
    </p:spTree>
    <p:extLst>
      <p:ext uri="{BB962C8B-B14F-4D97-AF65-F5344CB8AC3E}">
        <p14:creationId xmlns:p14="http://schemas.microsoft.com/office/powerpoint/2010/main" val="15452759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43BEE-BBAD-2EE1-9912-4FE1554FCA69}"/>
              </a:ext>
            </a:extLst>
          </p:cNvPr>
          <p:cNvSpPr>
            <a:spLocks noGrp="1"/>
          </p:cNvSpPr>
          <p:nvPr>
            <p:ph type="title"/>
          </p:nvPr>
        </p:nvSpPr>
        <p:spPr>
          <a:xfrm>
            <a:off x="698090" y="383458"/>
            <a:ext cx="5997678" cy="1061884"/>
          </a:xfrm>
        </p:spPr>
        <p:txBody>
          <a:bodyPr>
            <a:normAutofit fontScale="90000"/>
          </a:bodyPr>
          <a:lstStyle/>
          <a:p>
            <a:r>
              <a:rPr lang="en-IN" b="1" i="0" dirty="0">
                <a:solidFill>
                  <a:srgbClr val="282523"/>
                </a:solidFill>
                <a:effectLst/>
                <a:latin typeface="Ginto"/>
              </a:rPr>
              <a:t>Blockchain Platforms</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BBA309B5-0AC6-7EF9-BB31-EF522F775B5E}"/>
              </a:ext>
            </a:extLst>
          </p:cNvPr>
          <p:cNvSpPr>
            <a:spLocks noGrp="1"/>
          </p:cNvSpPr>
          <p:nvPr>
            <p:ph idx="1"/>
          </p:nvPr>
        </p:nvSpPr>
        <p:spPr>
          <a:xfrm>
            <a:off x="422787" y="1238865"/>
            <a:ext cx="11071123" cy="5132438"/>
          </a:xfrm>
        </p:spPr>
        <p:txBody>
          <a:bodyPr>
            <a:normAutofit fontScale="92500" lnSpcReduction="10000"/>
          </a:bodyPr>
          <a:lstStyle/>
          <a:p>
            <a:pPr algn="l">
              <a:lnSpc>
                <a:spcPct val="150000"/>
              </a:lnSpc>
            </a:pPr>
            <a:r>
              <a:rPr lang="en-IN" sz="1600" b="1" i="0" dirty="0">
                <a:solidFill>
                  <a:srgbClr val="282523"/>
                </a:solidFill>
                <a:effectLst/>
                <a:latin typeface="Ginto"/>
              </a:rPr>
              <a:t>Ethereum</a:t>
            </a:r>
            <a:endParaRPr lang="en-IN" sz="1600" b="0" i="0" dirty="0">
              <a:solidFill>
                <a:srgbClr val="282523"/>
              </a:solidFill>
              <a:effectLst/>
              <a:latin typeface="Ginto"/>
            </a:endParaRPr>
          </a:p>
          <a:p>
            <a:pPr algn="l">
              <a:lnSpc>
                <a:spcPct val="150000"/>
              </a:lnSpc>
              <a:buFont typeface="Arial" panose="020B0604020202020204" pitchFamily="34" charset="0"/>
              <a:buChar char="•"/>
            </a:pPr>
            <a:r>
              <a:rPr lang="en-IN" sz="1600" b="0" i="0" dirty="0">
                <a:solidFill>
                  <a:srgbClr val="282523"/>
                </a:solidFill>
                <a:effectLst/>
                <a:latin typeface="Ginto"/>
              </a:rPr>
              <a:t>Features: Robust smart contract capabilities, large developer community, wide adoption.</a:t>
            </a:r>
          </a:p>
          <a:p>
            <a:pPr algn="l">
              <a:lnSpc>
                <a:spcPct val="150000"/>
              </a:lnSpc>
              <a:buFont typeface="Arial" panose="020B0604020202020204" pitchFamily="34" charset="0"/>
              <a:buChar char="•"/>
            </a:pPr>
            <a:r>
              <a:rPr lang="en-IN" sz="1600" b="0" i="0" dirty="0">
                <a:solidFill>
                  <a:srgbClr val="282523"/>
                </a:solidFill>
                <a:effectLst/>
                <a:latin typeface="Ginto"/>
              </a:rPr>
              <a:t>Advantages: Flexibility, extensive </a:t>
            </a:r>
            <a:r>
              <a:rPr lang="en-IN" sz="1600" b="0" i="0" dirty="0" err="1">
                <a:solidFill>
                  <a:srgbClr val="282523"/>
                </a:solidFill>
                <a:effectLst/>
                <a:latin typeface="Ginto"/>
              </a:rPr>
              <a:t>DApp</a:t>
            </a:r>
            <a:r>
              <a:rPr lang="en-IN" sz="1600" b="0" i="0" dirty="0">
                <a:solidFill>
                  <a:srgbClr val="282523"/>
                </a:solidFill>
                <a:effectLst/>
                <a:latin typeface="Ginto"/>
              </a:rPr>
              <a:t> ecosystem, support for ERC-20 and ERC-721 token standards.</a:t>
            </a:r>
          </a:p>
          <a:p>
            <a:pPr algn="l">
              <a:lnSpc>
                <a:spcPct val="150000"/>
              </a:lnSpc>
            </a:pPr>
            <a:r>
              <a:rPr lang="en-IN" sz="1600" b="1" i="0" dirty="0">
                <a:solidFill>
                  <a:srgbClr val="282523"/>
                </a:solidFill>
                <a:effectLst/>
                <a:latin typeface="Ginto"/>
              </a:rPr>
              <a:t>Binance Smart Chain (BSC)</a:t>
            </a:r>
            <a:endParaRPr lang="en-IN" sz="1600" b="0" i="0" dirty="0">
              <a:solidFill>
                <a:srgbClr val="282523"/>
              </a:solidFill>
              <a:effectLst/>
              <a:latin typeface="Ginto"/>
            </a:endParaRPr>
          </a:p>
          <a:p>
            <a:pPr algn="l">
              <a:lnSpc>
                <a:spcPct val="150000"/>
              </a:lnSpc>
              <a:buFont typeface="Arial" panose="020B0604020202020204" pitchFamily="34" charset="0"/>
              <a:buChar char="•"/>
            </a:pPr>
            <a:r>
              <a:rPr lang="en-IN" sz="1600" b="0" i="0" dirty="0">
                <a:solidFill>
                  <a:srgbClr val="282523"/>
                </a:solidFill>
                <a:effectLst/>
                <a:latin typeface="Ginto"/>
              </a:rPr>
              <a:t>Features: Lower transaction fees, fast processing times.</a:t>
            </a:r>
          </a:p>
          <a:p>
            <a:pPr algn="l">
              <a:lnSpc>
                <a:spcPct val="150000"/>
              </a:lnSpc>
              <a:buFont typeface="Arial" panose="020B0604020202020204" pitchFamily="34" charset="0"/>
              <a:buChar char="•"/>
            </a:pPr>
            <a:r>
              <a:rPr lang="en-IN" sz="1600" b="0" i="0" dirty="0">
                <a:solidFill>
                  <a:srgbClr val="282523"/>
                </a:solidFill>
                <a:effectLst/>
                <a:latin typeface="Ginto"/>
              </a:rPr>
              <a:t>Advantages: Interoperability with Binance Chain, support for BEP-20 token standard, growing </a:t>
            </a:r>
            <a:r>
              <a:rPr lang="en-IN" sz="1600" b="0" i="0" dirty="0" err="1">
                <a:solidFill>
                  <a:srgbClr val="282523"/>
                </a:solidFill>
                <a:effectLst/>
                <a:latin typeface="Ginto"/>
              </a:rPr>
              <a:t>DApp</a:t>
            </a:r>
            <a:r>
              <a:rPr lang="en-IN" sz="1600" b="0" i="0" dirty="0">
                <a:solidFill>
                  <a:srgbClr val="282523"/>
                </a:solidFill>
                <a:effectLst/>
                <a:latin typeface="Ginto"/>
              </a:rPr>
              <a:t> ecosystem.</a:t>
            </a:r>
          </a:p>
          <a:p>
            <a:pPr algn="l">
              <a:lnSpc>
                <a:spcPct val="150000"/>
              </a:lnSpc>
            </a:pPr>
            <a:r>
              <a:rPr lang="en-IN" sz="1600" b="1" i="0" dirty="0">
                <a:solidFill>
                  <a:srgbClr val="282523"/>
                </a:solidFill>
                <a:effectLst/>
                <a:latin typeface="Ginto"/>
              </a:rPr>
              <a:t>Solana</a:t>
            </a:r>
            <a:endParaRPr lang="en-IN" sz="1600" b="0" i="0" dirty="0">
              <a:solidFill>
                <a:srgbClr val="282523"/>
              </a:solidFill>
              <a:effectLst/>
              <a:latin typeface="Ginto"/>
            </a:endParaRPr>
          </a:p>
          <a:p>
            <a:pPr algn="l">
              <a:lnSpc>
                <a:spcPct val="150000"/>
              </a:lnSpc>
              <a:buFont typeface="Arial" panose="020B0604020202020204" pitchFamily="34" charset="0"/>
              <a:buChar char="•"/>
            </a:pPr>
            <a:r>
              <a:rPr lang="en-IN" sz="1600" b="0" i="0" dirty="0">
                <a:solidFill>
                  <a:srgbClr val="282523"/>
                </a:solidFill>
                <a:effectLst/>
                <a:latin typeface="Ginto"/>
              </a:rPr>
              <a:t>Features: High performance, scalability.</a:t>
            </a:r>
          </a:p>
          <a:p>
            <a:pPr algn="l">
              <a:lnSpc>
                <a:spcPct val="150000"/>
              </a:lnSpc>
              <a:buFont typeface="Arial" panose="020B0604020202020204" pitchFamily="34" charset="0"/>
              <a:buChar char="•"/>
            </a:pPr>
            <a:r>
              <a:rPr lang="en-IN" sz="1600" b="0" i="0" dirty="0">
                <a:solidFill>
                  <a:srgbClr val="282523"/>
                </a:solidFill>
                <a:effectLst/>
                <a:latin typeface="Ginto"/>
              </a:rPr>
              <a:t>Advantages: Low transaction costs, fast transaction speeds, support for Solana Program Library (SPL) tokens.</a:t>
            </a:r>
          </a:p>
          <a:p>
            <a:pPr algn="l">
              <a:lnSpc>
                <a:spcPct val="150000"/>
              </a:lnSpc>
            </a:pPr>
            <a:r>
              <a:rPr lang="en-IN" sz="1600" b="1" i="0" dirty="0">
                <a:solidFill>
                  <a:srgbClr val="282523"/>
                </a:solidFill>
                <a:effectLst/>
                <a:latin typeface="Ginto"/>
              </a:rPr>
              <a:t>Other Platforms</a:t>
            </a:r>
            <a:endParaRPr lang="en-IN" sz="1600" b="0" i="0" dirty="0">
              <a:solidFill>
                <a:srgbClr val="282523"/>
              </a:solidFill>
              <a:effectLst/>
              <a:latin typeface="Ginto"/>
            </a:endParaRPr>
          </a:p>
          <a:p>
            <a:pPr algn="l">
              <a:lnSpc>
                <a:spcPct val="150000"/>
              </a:lnSpc>
              <a:buFont typeface="Arial" panose="020B0604020202020204" pitchFamily="34" charset="0"/>
              <a:buChar char="•"/>
            </a:pPr>
            <a:r>
              <a:rPr lang="en-IN" sz="1600" b="0" i="0" dirty="0">
                <a:solidFill>
                  <a:srgbClr val="282523"/>
                </a:solidFill>
                <a:effectLst/>
                <a:latin typeface="Ginto"/>
              </a:rPr>
              <a:t>Examples: </a:t>
            </a:r>
            <a:r>
              <a:rPr lang="en-IN" sz="1600" b="0" i="0" dirty="0" err="1">
                <a:solidFill>
                  <a:srgbClr val="282523"/>
                </a:solidFill>
                <a:effectLst/>
                <a:latin typeface="Ginto"/>
              </a:rPr>
              <a:t>Polkadot</a:t>
            </a:r>
            <a:r>
              <a:rPr lang="en-IN" sz="1600" b="0" i="0" dirty="0">
                <a:solidFill>
                  <a:srgbClr val="282523"/>
                </a:solidFill>
                <a:effectLst/>
                <a:latin typeface="Ginto"/>
              </a:rPr>
              <a:t>, Cardano, Avalanche. Each platform offers unique features and capabilities that may be suited for different types of tokens and use cases</a:t>
            </a:r>
          </a:p>
          <a:p>
            <a:endParaRPr lang="en-IN" dirty="0"/>
          </a:p>
        </p:txBody>
      </p:sp>
    </p:spTree>
    <p:extLst>
      <p:ext uri="{BB962C8B-B14F-4D97-AF65-F5344CB8AC3E}">
        <p14:creationId xmlns:p14="http://schemas.microsoft.com/office/powerpoint/2010/main" val="23368432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277B-8BD2-53FB-09DB-2FF903E0EEC7}"/>
              </a:ext>
            </a:extLst>
          </p:cNvPr>
          <p:cNvSpPr>
            <a:spLocks noGrp="1"/>
          </p:cNvSpPr>
          <p:nvPr>
            <p:ph type="title"/>
          </p:nvPr>
        </p:nvSpPr>
        <p:spPr>
          <a:xfrm>
            <a:off x="255639" y="511276"/>
            <a:ext cx="8111613" cy="825911"/>
          </a:xfrm>
        </p:spPr>
        <p:txBody>
          <a:bodyPr>
            <a:normAutofit fontScale="90000"/>
          </a:bodyPr>
          <a:lstStyle/>
          <a:p>
            <a:r>
              <a:rPr lang="en-IN" b="1" i="0" dirty="0">
                <a:solidFill>
                  <a:srgbClr val="282523"/>
                </a:solidFill>
                <a:effectLst/>
                <a:latin typeface="Ginto"/>
              </a:rPr>
              <a:t>Smart Contract Development</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665ABAE9-AF60-EE34-56C6-C1C71ED74409}"/>
              </a:ext>
            </a:extLst>
          </p:cNvPr>
          <p:cNvSpPr>
            <a:spLocks noGrp="1"/>
          </p:cNvSpPr>
          <p:nvPr>
            <p:ph idx="1"/>
          </p:nvPr>
        </p:nvSpPr>
        <p:spPr>
          <a:xfrm>
            <a:off x="255639" y="1268361"/>
            <a:ext cx="10869561" cy="4766679"/>
          </a:xfrm>
        </p:spPr>
        <p:txBody>
          <a:bodyPr>
            <a:normAutofit fontScale="92500"/>
          </a:bodyPr>
          <a:lstStyle/>
          <a:p>
            <a:pPr algn="l">
              <a:lnSpc>
                <a:spcPct val="150000"/>
              </a:lnSpc>
            </a:pPr>
            <a:r>
              <a:rPr lang="en-US" sz="1600" b="1" i="0" dirty="0">
                <a:solidFill>
                  <a:srgbClr val="282523"/>
                </a:solidFill>
                <a:effectLst/>
                <a:latin typeface="Ginto"/>
              </a:rPr>
              <a:t>Programming Languages</a:t>
            </a:r>
            <a:endParaRPr lang="en-US" sz="1600" b="0" i="0" dirty="0">
              <a:solidFill>
                <a:srgbClr val="282523"/>
              </a:solidFill>
              <a:effectLst/>
              <a:latin typeface="Ginto"/>
            </a:endParaRPr>
          </a:p>
          <a:p>
            <a:pPr algn="l">
              <a:lnSpc>
                <a:spcPct val="150000"/>
              </a:lnSpc>
              <a:buFont typeface="Arial" panose="020B0604020202020204" pitchFamily="34" charset="0"/>
              <a:buChar char="•"/>
            </a:pPr>
            <a:r>
              <a:rPr lang="en-US" sz="1600" b="0" i="0" dirty="0">
                <a:solidFill>
                  <a:srgbClr val="282523"/>
                </a:solidFill>
                <a:effectLst/>
                <a:latin typeface="Ginto"/>
              </a:rPr>
              <a:t>Solidity: The most widely used language for Ethereum smart contracts.</a:t>
            </a:r>
          </a:p>
          <a:p>
            <a:pPr algn="l">
              <a:lnSpc>
                <a:spcPct val="150000"/>
              </a:lnSpc>
              <a:buFont typeface="Arial" panose="020B0604020202020204" pitchFamily="34" charset="0"/>
              <a:buChar char="•"/>
            </a:pPr>
            <a:r>
              <a:rPr lang="en-US" sz="1600" b="0" i="0" dirty="0" err="1">
                <a:solidFill>
                  <a:srgbClr val="282523"/>
                </a:solidFill>
                <a:effectLst/>
                <a:latin typeface="Ginto"/>
              </a:rPr>
              <a:t>Vyper</a:t>
            </a:r>
            <a:r>
              <a:rPr lang="en-US" sz="1600" b="0" i="0" dirty="0">
                <a:solidFill>
                  <a:srgbClr val="282523"/>
                </a:solidFill>
                <a:effectLst/>
                <a:latin typeface="Ginto"/>
              </a:rPr>
              <a:t>: A Pythonic language for Ethereum smart contracts, emphasizing security and simplicity.</a:t>
            </a:r>
          </a:p>
          <a:p>
            <a:pPr algn="l">
              <a:lnSpc>
                <a:spcPct val="150000"/>
              </a:lnSpc>
            </a:pPr>
            <a:r>
              <a:rPr lang="en-US" sz="1600" b="1" i="0" dirty="0">
                <a:solidFill>
                  <a:srgbClr val="282523"/>
                </a:solidFill>
                <a:effectLst/>
                <a:latin typeface="Ginto"/>
              </a:rPr>
              <a:t>Development Tools</a:t>
            </a:r>
            <a:endParaRPr lang="en-US" sz="1600" b="0" i="0" dirty="0">
              <a:solidFill>
                <a:srgbClr val="282523"/>
              </a:solidFill>
              <a:effectLst/>
              <a:latin typeface="Ginto"/>
            </a:endParaRPr>
          </a:p>
          <a:p>
            <a:pPr algn="l">
              <a:lnSpc>
                <a:spcPct val="150000"/>
              </a:lnSpc>
              <a:buFont typeface="Arial" panose="020B0604020202020204" pitchFamily="34" charset="0"/>
              <a:buChar char="•"/>
            </a:pPr>
            <a:r>
              <a:rPr lang="en-US" sz="1600" b="0" i="0" dirty="0">
                <a:solidFill>
                  <a:srgbClr val="282523"/>
                </a:solidFill>
                <a:effectLst/>
                <a:latin typeface="Ginto"/>
              </a:rPr>
              <a:t>Remix: An online IDE for writing, testing, and deploying smart contracts.</a:t>
            </a:r>
          </a:p>
          <a:p>
            <a:pPr algn="l">
              <a:lnSpc>
                <a:spcPct val="150000"/>
              </a:lnSpc>
              <a:buFont typeface="Arial" panose="020B0604020202020204" pitchFamily="34" charset="0"/>
              <a:buChar char="•"/>
            </a:pPr>
            <a:r>
              <a:rPr lang="en-US" sz="1600" b="0" i="0" dirty="0">
                <a:solidFill>
                  <a:srgbClr val="282523"/>
                </a:solidFill>
                <a:effectLst/>
                <a:latin typeface="Ginto"/>
              </a:rPr>
              <a:t>Truffle: A development framework for Ethereum that provides tools for building, testing, and deploying contracts.</a:t>
            </a:r>
          </a:p>
          <a:p>
            <a:pPr algn="l">
              <a:lnSpc>
                <a:spcPct val="150000"/>
              </a:lnSpc>
              <a:buFont typeface="Arial" panose="020B0604020202020204" pitchFamily="34" charset="0"/>
              <a:buChar char="•"/>
            </a:pPr>
            <a:r>
              <a:rPr lang="en-US" sz="1600" b="0" i="0" dirty="0">
                <a:solidFill>
                  <a:srgbClr val="282523"/>
                </a:solidFill>
                <a:effectLst/>
                <a:latin typeface="Ginto"/>
              </a:rPr>
              <a:t>Hardhat: A development environment to compile, deploy, test, and debug Ethereum software.</a:t>
            </a:r>
          </a:p>
          <a:p>
            <a:pPr algn="l">
              <a:lnSpc>
                <a:spcPct val="150000"/>
              </a:lnSpc>
            </a:pPr>
            <a:r>
              <a:rPr lang="en-US" sz="1600" b="1" i="0" dirty="0">
                <a:solidFill>
                  <a:srgbClr val="282523"/>
                </a:solidFill>
                <a:effectLst/>
                <a:latin typeface="Ginto"/>
              </a:rPr>
              <a:t>Testing and Auditing</a:t>
            </a:r>
            <a:endParaRPr lang="en-US" sz="1600" b="0" i="0" dirty="0">
              <a:solidFill>
                <a:srgbClr val="282523"/>
              </a:solidFill>
              <a:effectLst/>
              <a:latin typeface="Ginto"/>
            </a:endParaRPr>
          </a:p>
          <a:p>
            <a:pPr algn="l">
              <a:lnSpc>
                <a:spcPct val="150000"/>
              </a:lnSpc>
              <a:buFont typeface="Arial" panose="020B0604020202020204" pitchFamily="34" charset="0"/>
              <a:buChar char="•"/>
            </a:pPr>
            <a:r>
              <a:rPr lang="en-US" sz="1600" b="0" i="0" dirty="0">
                <a:solidFill>
                  <a:srgbClr val="282523"/>
                </a:solidFill>
                <a:effectLst/>
                <a:latin typeface="Ginto"/>
              </a:rPr>
              <a:t>Conduct extensive testing of smart contracts to identify and fix any bugs or vulnerabilities.</a:t>
            </a:r>
          </a:p>
          <a:p>
            <a:pPr algn="l">
              <a:lnSpc>
                <a:spcPct val="150000"/>
              </a:lnSpc>
              <a:buFont typeface="Arial" panose="020B0604020202020204" pitchFamily="34" charset="0"/>
              <a:buChar char="•"/>
            </a:pPr>
            <a:r>
              <a:rPr lang="en-US" sz="1600" b="0" i="0" dirty="0">
                <a:solidFill>
                  <a:srgbClr val="282523"/>
                </a:solidFill>
                <a:effectLst/>
                <a:latin typeface="Ginto"/>
              </a:rPr>
              <a:t>Perform security audits using third-party services like </a:t>
            </a:r>
            <a:r>
              <a:rPr lang="en-US" sz="1600" b="0" i="0" dirty="0" err="1">
                <a:solidFill>
                  <a:srgbClr val="282523"/>
                </a:solidFill>
                <a:effectLst/>
                <a:latin typeface="Ginto"/>
              </a:rPr>
              <a:t>CertiK</a:t>
            </a:r>
            <a:r>
              <a:rPr lang="en-US" sz="1600" b="0" i="0" dirty="0">
                <a:solidFill>
                  <a:srgbClr val="282523"/>
                </a:solidFill>
                <a:effectLst/>
                <a:latin typeface="Ginto"/>
              </a:rPr>
              <a:t> or </a:t>
            </a:r>
            <a:r>
              <a:rPr lang="en-US" sz="1600" b="0" i="0" dirty="0" err="1">
                <a:solidFill>
                  <a:srgbClr val="282523"/>
                </a:solidFill>
                <a:effectLst/>
                <a:latin typeface="Ginto"/>
              </a:rPr>
              <a:t>ConsenSys</a:t>
            </a:r>
            <a:r>
              <a:rPr lang="en-US" sz="1600" b="0" i="0" dirty="0">
                <a:solidFill>
                  <a:srgbClr val="282523"/>
                </a:solidFill>
                <a:effectLst/>
                <a:latin typeface="Ginto"/>
              </a:rPr>
              <a:t> Diligence to ensure the contracts are secure and reliable.</a:t>
            </a:r>
          </a:p>
          <a:p>
            <a:endParaRPr lang="en-IN" sz="1600" dirty="0"/>
          </a:p>
        </p:txBody>
      </p:sp>
    </p:spTree>
    <p:extLst>
      <p:ext uri="{BB962C8B-B14F-4D97-AF65-F5344CB8AC3E}">
        <p14:creationId xmlns:p14="http://schemas.microsoft.com/office/powerpoint/2010/main" val="41402968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0EA9E-40CF-7531-630C-AE4D43A89AFA}"/>
              </a:ext>
            </a:extLst>
          </p:cNvPr>
          <p:cNvSpPr>
            <a:spLocks noGrp="1"/>
          </p:cNvSpPr>
          <p:nvPr>
            <p:ph type="title"/>
          </p:nvPr>
        </p:nvSpPr>
        <p:spPr/>
        <p:txBody>
          <a:bodyPr>
            <a:normAutofit fontScale="90000"/>
          </a:bodyPr>
          <a:lstStyle/>
          <a:p>
            <a:r>
              <a:rPr lang="en-IN" b="1" i="0" dirty="0" err="1">
                <a:solidFill>
                  <a:srgbClr val="282523"/>
                </a:solidFill>
                <a:effectLst/>
                <a:latin typeface="Ginto"/>
              </a:rPr>
              <a:t>Tokenomics</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C0700C7F-253C-767A-A139-9174E1073459}"/>
              </a:ext>
            </a:extLst>
          </p:cNvPr>
          <p:cNvSpPr>
            <a:spLocks noGrp="1"/>
          </p:cNvSpPr>
          <p:nvPr>
            <p:ph idx="1"/>
          </p:nvPr>
        </p:nvSpPr>
        <p:spPr>
          <a:xfrm>
            <a:off x="599768" y="2014194"/>
            <a:ext cx="10766322" cy="4052309"/>
          </a:xfrm>
        </p:spPr>
        <p:txBody>
          <a:bodyPr>
            <a:normAutofit fontScale="92500" lnSpcReduction="10000"/>
          </a:bodyPr>
          <a:lstStyle/>
          <a:p>
            <a:pPr algn="l">
              <a:lnSpc>
                <a:spcPct val="150000"/>
              </a:lnSpc>
            </a:pPr>
            <a:r>
              <a:rPr lang="en-US" b="1" i="0" dirty="0">
                <a:solidFill>
                  <a:srgbClr val="282523"/>
                </a:solidFill>
                <a:effectLst/>
                <a:latin typeface="Ginto"/>
              </a:rPr>
              <a:t>Supply and Distribution</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Define the initial supply, total supply, and distribution mechanisms. Decide how tokens will be allocated to founders, team members, investors, and the community.</a:t>
            </a:r>
          </a:p>
          <a:p>
            <a:pPr algn="l">
              <a:lnSpc>
                <a:spcPct val="150000"/>
              </a:lnSpc>
            </a:pPr>
            <a:r>
              <a:rPr lang="en-US" b="1" i="0" dirty="0">
                <a:solidFill>
                  <a:srgbClr val="282523"/>
                </a:solidFill>
                <a:effectLst/>
                <a:latin typeface="Ginto"/>
              </a:rPr>
              <a:t>Incentives and Rewards</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Implement mechanisms to incentivize participation and usage. This may include staking rewards, airdrops, and referral programs.</a:t>
            </a:r>
          </a:p>
          <a:p>
            <a:pPr algn="l">
              <a:lnSpc>
                <a:spcPct val="150000"/>
              </a:lnSpc>
            </a:pPr>
            <a:r>
              <a:rPr lang="en-US" b="1" i="0" dirty="0">
                <a:solidFill>
                  <a:srgbClr val="282523"/>
                </a:solidFill>
                <a:effectLst/>
                <a:latin typeface="Ginto"/>
              </a:rPr>
              <a:t>Economic Model</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Develop a sustainable economic model that ensures the token’s value and utility. Address factors such as pricing, inflation, and deflation to maintain a stable and valuable token economy.</a:t>
            </a:r>
          </a:p>
          <a:p>
            <a:endParaRPr lang="en-IN" dirty="0"/>
          </a:p>
        </p:txBody>
      </p:sp>
    </p:spTree>
    <p:extLst>
      <p:ext uri="{BB962C8B-B14F-4D97-AF65-F5344CB8AC3E}">
        <p14:creationId xmlns:p14="http://schemas.microsoft.com/office/powerpoint/2010/main" val="33890380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A5D2D-8A97-399C-16D9-B152EBD53294}"/>
              </a:ext>
            </a:extLst>
          </p:cNvPr>
          <p:cNvSpPr>
            <a:spLocks noGrp="1"/>
          </p:cNvSpPr>
          <p:nvPr>
            <p:ph type="title"/>
          </p:nvPr>
        </p:nvSpPr>
        <p:spPr/>
        <p:txBody>
          <a:bodyPr>
            <a:normAutofit fontScale="90000"/>
          </a:bodyPr>
          <a:lstStyle/>
          <a:p>
            <a:r>
              <a:rPr lang="en-IN" b="1" i="0" dirty="0">
                <a:solidFill>
                  <a:srgbClr val="282523"/>
                </a:solidFill>
                <a:effectLst/>
                <a:latin typeface="Ginto"/>
              </a:rPr>
              <a:t> Legal and Regulatory Considerations</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899308D8-6EA5-88DF-D7BB-74044A485F97}"/>
              </a:ext>
            </a:extLst>
          </p:cNvPr>
          <p:cNvSpPr>
            <a:spLocks noGrp="1"/>
          </p:cNvSpPr>
          <p:nvPr>
            <p:ph idx="1"/>
          </p:nvPr>
        </p:nvSpPr>
        <p:spPr>
          <a:xfrm>
            <a:off x="235974" y="1474839"/>
            <a:ext cx="10889226" cy="4560201"/>
          </a:xfrm>
        </p:spPr>
        <p:txBody>
          <a:bodyPr>
            <a:normAutofit/>
          </a:bodyPr>
          <a:lstStyle/>
          <a:p>
            <a:pPr>
              <a:lnSpc>
                <a:spcPct val="150000"/>
              </a:lnSpc>
            </a:pPr>
            <a:r>
              <a:rPr lang="en-US" b="1" i="0" dirty="0">
                <a:solidFill>
                  <a:srgbClr val="282523"/>
                </a:solidFill>
                <a:effectLst/>
                <a:latin typeface="Ginto"/>
              </a:rPr>
              <a:t>KYC/AML Compliance</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Implement Know Your Customer (KYC) and Anti-Money Laundering (AML) measures to verify user identities and prevent illegal activities.</a:t>
            </a:r>
          </a:p>
          <a:p>
            <a:pPr algn="l">
              <a:lnSpc>
                <a:spcPct val="150000"/>
              </a:lnSpc>
            </a:pPr>
            <a:r>
              <a:rPr lang="en-US" b="1" i="0" dirty="0">
                <a:solidFill>
                  <a:srgbClr val="282523"/>
                </a:solidFill>
                <a:effectLst/>
                <a:latin typeface="Ginto"/>
              </a:rPr>
              <a:t>Securities Laws</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Ensure compliance with relevant securities regulations if the token is classified as a security. This may include registering with regulatory authorities and adhering to disclosure requirements.</a:t>
            </a:r>
          </a:p>
          <a:p>
            <a:pPr algn="l">
              <a:lnSpc>
                <a:spcPct val="150000"/>
              </a:lnSpc>
            </a:pPr>
            <a:r>
              <a:rPr lang="en-US" b="1" i="0" dirty="0">
                <a:solidFill>
                  <a:srgbClr val="282523"/>
                </a:solidFill>
                <a:effectLst/>
                <a:latin typeface="Ginto"/>
              </a:rPr>
              <a:t>Tax Implications</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Understand the tax obligations associated with token issuance, trading, and usage. Consult with legal and tax experts to ensure compliance with tax laws in different jurisdictions.</a:t>
            </a:r>
          </a:p>
          <a:p>
            <a:endParaRPr lang="en-IN" dirty="0"/>
          </a:p>
        </p:txBody>
      </p:sp>
    </p:spTree>
    <p:extLst>
      <p:ext uri="{BB962C8B-B14F-4D97-AF65-F5344CB8AC3E}">
        <p14:creationId xmlns:p14="http://schemas.microsoft.com/office/powerpoint/2010/main" val="10488571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E4B93-5890-1FD7-A598-48B6AF89DB84}"/>
              </a:ext>
            </a:extLst>
          </p:cNvPr>
          <p:cNvSpPr>
            <a:spLocks noGrp="1"/>
          </p:cNvSpPr>
          <p:nvPr>
            <p:ph type="title"/>
          </p:nvPr>
        </p:nvSpPr>
        <p:spPr>
          <a:xfrm>
            <a:off x="1066800" y="1179870"/>
            <a:ext cx="10058400" cy="834323"/>
          </a:xfrm>
        </p:spPr>
        <p:txBody>
          <a:bodyPr>
            <a:normAutofit fontScale="90000"/>
          </a:bodyPr>
          <a:lstStyle/>
          <a:p>
            <a:r>
              <a:rPr lang="en-IN" b="1" i="0" dirty="0">
                <a:solidFill>
                  <a:srgbClr val="282523"/>
                </a:solidFill>
                <a:effectLst/>
                <a:latin typeface="Ginto"/>
              </a:rPr>
              <a:t>Token Deployment</a:t>
            </a:r>
            <a:br>
              <a:rPr lang="en-IN" b="1" i="0" dirty="0">
                <a:solidFill>
                  <a:srgbClr val="282523"/>
                </a:solidFill>
                <a:effectLst/>
                <a:latin typeface="Ginto"/>
              </a:rPr>
            </a:b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30F3A2F7-E752-3901-BC89-D330B5481E2C}"/>
              </a:ext>
            </a:extLst>
          </p:cNvPr>
          <p:cNvSpPr>
            <a:spLocks noGrp="1"/>
          </p:cNvSpPr>
          <p:nvPr>
            <p:ph idx="1"/>
          </p:nvPr>
        </p:nvSpPr>
        <p:spPr/>
        <p:txBody>
          <a:bodyPr>
            <a:normAutofit fontScale="92500" lnSpcReduction="10000"/>
          </a:bodyPr>
          <a:lstStyle/>
          <a:p>
            <a:pPr algn="l">
              <a:lnSpc>
                <a:spcPct val="150000"/>
              </a:lnSpc>
            </a:pPr>
            <a:r>
              <a:rPr lang="en-US" b="1" i="0" dirty="0">
                <a:solidFill>
                  <a:srgbClr val="282523"/>
                </a:solidFill>
                <a:effectLst/>
                <a:latin typeface="Ginto"/>
              </a:rPr>
              <a:t>Choosing a Blockchain</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Consider factors such as security, transaction fees, network speed, and community support when selecting a blockchain platform for deployment.</a:t>
            </a:r>
          </a:p>
          <a:p>
            <a:pPr algn="l">
              <a:lnSpc>
                <a:spcPct val="150000"/>
              </a:lnSpc>
            </a:pPr>
            <a:r>
              <a:rPr lang="en-US" b="1" i="0" dirty="0">
                <a:solidFill>
                  <a:srgbClr val="282523"/>
                </a:solidFill>
                <a:effectLst/>
                <a:latin typeface="Ginto"/>
              </a:rPr>
              <a:t>Deployment Process</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Follow the steps to deploy the smart contract, mint tokens, and initialize the token contract. Ensure the deployment is secure and transparent.</a:t>
            </a:r>
          </a:p>
          <a:p>
            <a:pPr algn="l">
              <a:lnSpc>
                <a:spcPct val="150000"/>
              </a:lnSpc>
            </a:pPr>
            <a:r>
              <a:rPr lang="en-US" b="1" i="0" dirty="0">
                <a:solidFill>
                  <a:srgbClr val="282523"/>
                </a:solidFill>
                <a:effectLst/>
                <a:latin typeface="Ginto"/>
              </a:rPr>
              <a:t>Monitoring and Maintenance</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Continuously monitor the token’s performance and security. Implement regular updates and improvements to ensure the token operates smoothly and securely.</a:t>
            </a:r>
          </a:p>
          <a:p>
            <a:endParaRPr lang="en-IN" dirty="0"/>
          </a:p>
        </p:txBody>
      </p:sp>
    </p:spTree>
    <p:extLst>
      <p:ext uri="{BB962C8B-B14F-4D97-AF65-F5344CB8AC3E}">
        <p14:creationId xmlns:p14="http://schemas.microsoft.com/office/powerpoint/2010/main" val="31075691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412C5-2531-564B-0F20-A9E428100F56}"/>
              </a:ext>
            </a:extLst>
          </p:cNvPr>
          <p:cNvSpPr>
            <a:spLocks noGrp="1"/>
          </p:cNvSpPr>
          <p:nvPr>
            <p:ph type="title"/>
          </p:nvPr>
        </p:nvSpPr>
        <p:spPr/>
        <p:txBody>
          <a:bodyPr>
            <a:normAutofit fontScale="90000"/>
          </a:bodyPr>
          <a:lstStyle/>
          <a:p>
            <a:r>
              <a:rPr lang="en-IN" b="1" i="0" dirty="0">
                <a:solidFill>
                  <a:srgbClr val="282523"/>
                </a:solidFill>
                <a:effectLst/>
                <a:latin typeface="Ginto"/>
              </a:rPr>
              <a:t> Marketing and Launch</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282C749C-6202-D946-4A9F-6206EC486343}"/>
              </a:ext>
            </a:extLst>
          </p:cNvPr>
          <p:cNvSpPr>
            <a:spLocks noGrp="1"/>
          </p:cNvSpPr>
          <p:nvPr>
            <p:ph idx="1"/>
          </p:nvPr>
        </p:nvSpPr>
        <p:spPr/>
        <p:txBody>
          <a:bodyPr>
            <a:normAutofit lnSpcReduction="10000"/>
          </a:bodyPr>
          <a:lstStyle/>
          <a:p>
            <a:pPr algn="l">
              <a:lnSpc>
                <a:spcPct val="150000"/>
              </a:lnSpc>
            </a:pPr>
            <a:r>
              <a:rPr lang="en-US" b="1" i="0" dirty="0">
                <a:solidFill>
                  <a:srgbClr val="282523"/>
                </a:solidFill>
                <a:effectLst/>
                <a:latin typeface="Ginto"/>
              </a:rPr>
              <a:t>Creating Awareness</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Use social media, public relations, and community engagement to promote the token. Highlight the token’s benefits and use cases to attract potential users and investors.</a:t>
            </a:r>
          </a:p>
          <a:p>
            <a:pPr algn="l">
              <a:lnSpc>
                <a:spcPct val="150000"/>
              </a:lnSpc>
            </a:pPr>
            <a:r>
              <a:rPr lang="en-US" b="1" i="0" dirty="0">
                <a:solidFill>
                  <a:srgbClr val="282523"/>
                </a:solidFill>
                <a:effectLst/>
                <a:latin typeface="Ginto"/>
              </a:rPr>
              <a:t>Community Building</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Engage with potential users and investors through forums, AMA (Ask Me Anything) sessions, and social media. Build a strong and supportive community around the token.</a:t>
            </a:r>
          </a:p>
          <a:p>
            <a:pPr algn="l">
              <a:lnSpc>
                <a:spcPct val="150000"/>
              </a:lnSpc>
            </a:pPr>
            <a:r>
              <a:rPr lang="en-US" b="1" i="0" dirty="0">
                <a:solidFill>
                  <a:srgbClr val="282523"/>
                </a:solidFill>
                <a:effectLst/>
                <a:latin typeface="Ginto"/>
              </a:rPr>
              <a:t>Launch Event</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0" i="0" dirty="0">
                <a:solidFill>
                  <a:srgbClr val="282523"/>
                </a:solidFill>
                <a:effectLst/>
                <a:latin typeface="Ginto"/>
              </a:rPr>
              <a:t>Plan and execute launch events such as Initial Coin</a:t>
            </a:r>
          </a:p>
          <a:p>
            <a:endParaRPr lang="en-IN" dirty="0"/>
          </a:p>
        </p:txBody>
      </p:sp>
    </p:spTree>
    <p:extLst>
      <p:ext uri="{BB962C8B-B14F-4D97-AF65-F5344CB8AC3E}">
        <p14:creationId xmlns:p14="http://schemas.microsoft.com/office/powerpoint/2010/main" val="40869258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2625F-8FD6-4BAD-14B4-8582E95D3D99}"/>
              </a:ext>
            </a:extLst>
          </p:cNvPr>
          <p:cNvSpPr>
            <a:spLocks noGrp="1"/>
          </p:cNvSpPr>
          <p:nvPr>
            <p:ph type="title"/>
          </p:nvPr>
        </p:nvSpPr>
        <p:spPr>
          <a:xfrm>
            <a:off x="619432" y="334298"/>
            <a:ext cx="3814916" cy="1012722"/>
          </a:xfrm>
        </p:spPr>
        <p:txBody>
          <a:bodyPr>
            <a:normAutofit fontScale="90000"/>
          </a:bodyPr>
          <a:lstStyle/>
          <a:p>
            <a:r>
              <a:rPr lang="en-IN" b="1" i="0" dirty="0">
                <a:solidFill>
                  <a:srgbClr val="282523"/>
                </a:solidFill>
                <a:effectLst/>
                <a:latin typeface="Ginto"/>
              </a:rPr>
              <a:t> Case Studies</a:t>
            </a:r>
            <a:br>
              <a:rPr lang="en-IN" b="1" i="0" dirty="0">
                <a:solidFill>
                  <a:srgbClr val="282523"/>
                </a:solidFill>
                <a:effectLst/>
                <a:latin typeface="Ginto"/>
              </a:rPr>
            </a:br>
            <a:endParaRPr lang="en-IN" dirty="0"/>
          </a:p>
        </p:txBody>
      </p:sp>
      <p:sp>
        <p:nvSpPr>
          <p:cNvPr id="3" name="Content Placeholder 2">
            <a:extLst>
              <a:ext uri="{FF2B5EF4-FFF2-40B4-BE49-F238E27FC236}">
                <a16:creationId xmlns:a16="http://schemas.microsoft.com/office/drawing/2014/main" id="{C3FB8927-4B15-FD1C-84D1-8FC80BB386E6}"/>
              </a:ext>
            </a:extLst>
          </p:cNvPr>
          <p:cNvSpPr>
            <a:spLocks noGrp="1"/>
          </p:cNvSpPr>
          <p:nvPr>
            <p:ph idx="1"/>
          </p:nvPr>
        </p:nvSpPr>
        <p:spPr>
          <a:xfrm>
            <a:off x="471948" y="875071"/>
            <a:ext cx="11493910" cy="5073445"/>
          </a:xfrm>
        </p:spPr>
        <p:txBody>
          <a:bodyPr>
            <a:normAutofit/>
          </a:bodyPr>
          <a:lstStyle/>
          <a:p>
            <a:pPr algn="l">
              <a:lnSpc>
                <a:spcPct val="150000"/>
              </a:lnSpc>
            </a:pPr>
            <a:r>
              <a:rPr lang="en-US" b="1" i="0" dirty="0">
                <a:solidFill>
                  <a:srgbClr val="282523"/>
                </a:solidFill>
                <a:effectLst/>
                <a:latin typeface="Ginto"/>
              </a:rPr>
              <a:t>Ethereum:</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1" i="0" dirty="0">
                <a:solidFill>
                  <a:srgbClr val="282523"/>
                </a:solidFill>
                <a:effectLst/>
                <a:latin typeface="Ginto"/>
              </a:rPr>
              <a:t>Overview</a:t>
            </a:r>
            <a:r>
              <a:rPr lang="en-US" b="0" i="0" dirty="0">
                <a:solidFill>
                  <a:srgbClr val="282523"/>
                </a:solidFill>
                <a:effectLst/>
                <a:latin typeface="Ginto"/>
              </a:rPr>
              <a:t>: Ethereum is a decentralized platform that enables smart contracts and decentralized applications (</a:t>
            </a:r>
            <a:r>
              <a:rPr lang="en-US" b="0" i="0" dirty="0" err="1">
                <a:solidFill>
                  <a:srgbClr val="282523"/>
                </a:solidFill>
                <a:effectLst/>
                <a:latin typeface="Ginto"/>
              </a:rPr>
              <a:t>DApps</a:t>
            </a:r>
            <a:r>
              <a:rPr lang="en-US" b="0" i="0" dirty="0">
                <a:solidFill>
                  <a:srgbClr val="282523"/>
                </a:solidFill>
                <a:effectLst/>
                <a:latin typeface="Ginto"/>
              </a:rPr>
              <a:t>) to be built and run without any downtime, fraud, control, or interference from a third party.</a:t>
            </a:r>
          </a:p>
          <a:p>
            <a:pPr algn="l">
              <a:lnSpc>
                <a:spcPct val="150000"/>
              </a:lnSpc>
              <a:buFont typeface="Arial" panose="020B0604020202020204" pitchFamily="34" charset="0"/>
              <a:buChar char="•"/>
            </a:pPr>
            <a:r>
              <a:rPr lang="en-US" b="1" i="0" dirty="0">
                <a:solidFill>
                  <a:srgbClr val="282523"/>
                </a:solidFill>
                <a:effectLst/>
                <a:latin typeface="Ginto"/>
              </a:rPr>
              <a:t>Launch</a:t>
            </a:r>
            <a:r>
              <a:rPr lang="en-US" b="0" i="0" dirty="0">
                <a:solidFill>
                  <a:srgbClr val="282523"/>
                </a:solidFill>
                <a:effectLst/>
                <a:latin typeface="Ginto"/>
              </a:rPr>
              <a:t>: It was launched in July 2015 by </a:t>
            </a:r>
            <a:r>
              <a:rPr lang="en-US" b="0" i="0" dirty="0" err="1">
                <a:solidFill>
                  <a:srgbClr val="282523"/>
                </a:solidFill>
                <a:effectLst/>
                <a:latin typeface="Ginto"/>
              </a:rPr>
              <a:t>Vitalik</a:t>
            </a:r>
            <a:r>
              <a:rPr lang="en-US" b="0" i="0" dirty="0">
                <a:solidFill>
                  <a:srgbClr val="282523"/>
                </a:solidFill>
                <a:effectLst/>
                <a:latin typeface="Ginto"/>
              </a:rPr>
              <a:t> </a:t>
            </a:r>
            <a:r>
              <a:rPr lang="en-US" b="0" i="0" dirty="0" err="1">
                <a:solidFill>
                  <a:srgbClr val="282523"/>
                </a:solidFill>
                <a:effectLst/>
                <a:latin typeface="Ginto"/>
              </a:rPr>
              <a:t>Buterin</a:t>
            </a:r>
            <a:r>
              <a:rPr lang="en-US" b="0" i="0" dirty="0">
                <a:solidFill>
                  <a:srgbClr val="282523"/>
                </a:solidFill>
                <a:effectLst/>
                <a:latin typeface="Ginto"/>
              </a:rPr>
              <a:t> and a team of developers.</a:t>
            </a:r>
          </a:p>
          <a:p>
            <a:pPr algn="l">
              <a:lnSpc>
                <a:spcPct val="150000"/>
              </a:lnSpc>
              <a:buFont typeface="Arial" panose="020B0604020202020204" pitchFamily="34" charset="0"/>
              <a:buChar char="•"/>
            </a:pPr>
            <a:r>
              <a:rPr lang="en-US" b="1" i="0" dirty="0">
                <a:solidFill>
                  <a:srgbClr val="282523"/>
                </a:solidFill>
                <a:effectLst/>
                <a:latin typeface="Ginto"/>
              </a:rPr>
              <a:t>Success</a:t>
            </a:r>
            <a:r>
              <a:rPr lang="en-US" b="0" i="0" dirty="0">
                <a:solidFill>
                  <a:srgbClr val="282523"/>
                </a:solidFill>
                <a:effectLst/>
                <a:latin typeface="Ginto"/>
              </a:rPr>
              <a:t>: Ethereum introduced the concept of smart contracts and decentralized applications (</a:t>
            </a:r>
            <a:r>
              <a:rPr lang="en-US" b="0" i="0" dirty="0" err="1">
                <a:solidFill>
                  <a:srgbClr val="282523"/>
                </a:solidFill>
                <a:effectLst/>
                <a:latin typeface="Ginto"/>
              </a:rPr>
              <a:t>DApps</a:t>
            </a:r>
            <a:r>
              <a:rPr lang="en-US" b="0" i="0" dirty="0">
                <a:solidFill>
                  <a:srgbClr val="282523"/>
                </a:solidFill>
                <a:effectLst/>
                <a:latin typeface="Ginto"/>
              </a:rPr>
              <a:t>), revolutionizing the crypto industry. It has become the second-largest cryptocurrency by market capitalization after Bitcoin.</a:t>
            </a:r>
          </a:p>
          <a:p>
            <a:pPr algn="l">
              <a:lnSpc>
                <a:spcPct val="150000"/>
              </a:lnSpc>
            </a:pPr>
            <a:r>
              <a:rPr lang="en-US" b="1" i="0" dirty="0" err="1">
                <a:solidFill>
                  <a:srgbClr val="282523"/>
                </a:solidFill>
                <a:effectLst/>
                <a:latin typeface="Ginto"/>
              </a:rPr>
              <a:t>Chainlink</a:t>
            </a:r>
            <a:r>
              <a:rPr lang="en-US" b="1" i="0" dirty="0">
                <a:solidFill>
                  <a:srgbClr val="282523"/>
                </a:solidFill>
                <a:effectLst/>
                <a:latin typeface="Ginto"/>
              </a:rPr>
              <a:t>:</a:t>
            </a:r>
            <a:endParaRPr lang="en-US" b="0" i="0" dirty="0">
              <a:solidFill>
                <a:srgbClr val="282523"/>
              </a:solidFill>
              <a:effectLst/>
              <a:latin typeface="Ginto"/>
            </a:endParaRPr>
          </a:p>
          <a:p>
            <a:pPr algn="l">
              <a:lnSpc>
                <a:spcPct val="150000"/>
              </a:lnSpc>
              <a:buFont typeface="Arial" panose="020B0604020202020204" pitchFamily="34" charset="0"/>
              <a:buChar char="•"/>
            </a:pPr>
            <a:r>
              <a:rPr lang="en-US" b="1" i="0" dirty="0">
                <a:solidFill>
                  <a:srgbClr val="282523"/>
                </a:solidFill>
                <a:effectLst/>
                <a:latin typeface="Ginto"/>
              </a:rPr>
              <a:t>Overview</a:t>
            </a:r>
            <a:r>
              <a:rPr lang="en-US" b="0" i="0" dirty="0">
                <a:solidFill>
                  <a:srgbClr val="282523"/>
                </a:solidFill>
                <a:effectLst/>
                <a:latin typeface="Ginto"/>
              </a:rPr>
              <a:t>: </a:t>
            </a:r>
            <a:r>
              <a:rPr lang="en-US" b="0" i="0" dirty="0" err="1">
                <a:solidFill>
                  <a:srgbClr val="282523"/>
                </a:solidFill>
                <a:effectLst/>
                <a:latin typeface="Ginto"/>
              </a:rPr>
              <a:t>Chainlink</a:t>
            </a:r>
            <a:r>
              <a:rPr lang="en-US" b="0" i="0" dirty="0">
                <a:solidFill>
                  <a:srgbClr val="282523"/>
                </a:solidFill>
                <a:effectLst/>
                <a:latin typeface="Ginto"/>
              </a:rPr>
              <a:t> is a decentralized oracle network that allows smart contracts on Ethereum to securely connect to external data sources, APIs, and payment systems.</a:t>
            </a:r>
          </a:p>
          <a:p>
            <a:pPr>
              <a:lnSpc>
                <a:spcPct val="150000"/>
              </a:lnSpc>
              <a:buFont typeface="Arial" panose="020B0604020202020204" pitchFamily="34" charset="0"/>
              <a:buChar char="•"/>
            </a:pPr>
            <a:r>
              <a:rPr lang="en-US" sz="1800" b="1" i="0" dirty="0">
                <a:solidFill>
                  <a:srgbClr val="282523"/>
                </a:solidFill>
                <a:effectLst/>
                <a:latin typeface="Ginto"/>
              </a:rPr>
              <a:t>Launch</a:t>
            </a:r>
            <a:r>
              <a:rPr lang="en-US" sz="1800" b="0" i="0" dirty="0">
                <a:solidFill>
                  <a:srgbClr val="282523"/>
                </a:solidFill>
                <a:effectLst/>
                <a:latin typeface="Ginto"/>
              </a:rPr>
              <a:t>: It was launched in 2017 by Sergey Nazarov and Steve Ellis.</a:t>
            </a:r>
          </a:p>
          <a:p>
            <a:pPr algn="l">
              <a:lnSpc>
                <a:spcPct val="150000"/>
              </a:lnSpc>
              <a:buFont typeface="Arial" panose="020B0604020202020204" pitchFamily="34" charset="0"/>
              <a:buChar char="•"/>
            </a:pPr>
            <a:endParaRPr lang="en-US" b="0" i="0" dirty="0">
              <a:solidFill>
                <a:srgbClr val="282523"/>
              </a:solidFill>
              <a:effectLst/>
              <a:latin typeface="Ginto"/>
            </a:endParaRPr>
          </a:p>
          <a:p>
            <a:endParaRPr lang="en-IN" dirty="0"/>
          </a:p>
        </p:txBody>
      </p:sp>
    </p:spTree>
    <p:extLst>
      <p:ext uri="{BB962C8B-B14F-4D97-AF65-F5344CB8AC3E}">
        <p14:creationId xmlns:p14="http://schemas.microsoft.com/office/powerpoint/2010/main" val="38358182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77961-91E8-69BF-5238-2A2851EA33BC}"/>
              </a:ext>
            </a:extLst>
          </p:cNvPr>
          <p:cNvSpPr>
            <a:spLocks noGrp="1"/>
          </p:cNvSpPr>
          <p:nvPr>
            <p:ph idx="1"/>
          </p:nvPr>
        </p:nvSpPr>
        <p:spPr>
          <a:xfrm>
            <a:off x="570271" y="953729"/>
            <a:ext cx="10554929" cy="5081311"/>
          </a:xfrm>
        </p:spPr>
        <p:txBody>
          <a:bodyPr>
            <a:normAutofit fontScale="92500"/>
          </a:bodyPr>
          <a:lstStyle/>
          <a:p>
            <a:pPr algn="l">
              <a:lnSpc>
                <a:spcPct val="150000"/>
              </a:lnSpc>
              <a:buFont typeface="Arial" panose="020B0604020202020204" pitchFamily="34" charset="0"/>
              <a:buChar char="•"/>
            </a:pPr>
            <a:r>
              <a:rPr lang="en-US" sz="1800" b="1" i="0" dirty="0">
                <a:solidFill>
                  <a:srgbClr val="282523"/>
                </a:solidFill>
                <a:effectLst/>
                <a:latin typeface="Ginto"/>
              </a:rPr>
              <a:t>Success</a:t>
            </a:r>
            <a:r>
              <a:rPr lang="en-US" sz="1800" b="0" i="0" dirty="0">
                <a:solidFill>
                  <a:srgbClr val="282523"/>
                </a:solidFill>
                <a:effectLst/>
                <a:latin typeface="Ginto"/>
              </a:rPr>
              <a:t>: </a:t>
            </a:r>
            <a:r>
              <a:rPr lang="en-US" sz="1800" b="0" i="0" dirty="0" err="1">
                <a:solidFill>
                  <a:srgbClr val="282523"/>
                </a:solidFill>
                <a:effectLst/>
                <a:latin typeface="Ginto"/>
              </a:rPr>
              <a:t>Chainlink</a:t>
            </a:r>
            <a:r>
              <a:rPr lang="en-US" sz="1800" b="0" i="0" dirty="0">
                <a:solidFill>
                  <a:srgbClr val="282523"/>
                </a:solidFill>
                <a:effectLst/>
                <a:latin typeface="Ginto"/>
              </a:rPr>
              <a:t> has been widely adopted for providing reliable data feeds to smart contracts, making it an essential component in the DeFi (Decentralized Finance) ecosystem.</a:t>
            </a:r>
          </a:p>
          <a:p>
            <a:pPr algn="l">
              <a:lnSpc>
                <a:spcPct val="150000"/>
              </a:lnSpc>
            </a:pPr>
            <a:r>
              <a:rPr lang="en-US" sz="1800" b="1" i="0" dirty="0">
                <a:solidFill>
                  <a:srgbClr val="282523"/>
                </a:solidFill>
                <a:effectLst/>
                <a:latin typeface="Ginto"/>
              </a:rPr>
              <a:t>Uniswap:</a:t>
            </a:r>
            <a:endParaRPr lang="en-US" sz="1800" b="0" i="0" dirty="0">
              <a:solidFill>
                <a:srgbClr val="282523"/>
              </a:solidFill>
              <a:effectLst/>
              <a:latin typeface="Ginto"/>
            </a:endParaRPr>
          </a:p>
          <a:p>
            <a:pPr algn="l">
              <a:lnSpc>
                <a:spcPct val="150000"/>
              </a:lnSpc>
              <a:buFont typeface="Arial" panose="020B0604020202020204" pitchFamily="34" charset="0"/>
              <a:buChar char="•"/>
            </a:pPr>
            <a:r>
              <a:rPr lang="en-US" sz="1800" b="1" i="0" dirty="0">
                <a:solidFill>
                  <a:srgbClr val="282523"/>
                </a:solidFill>
                <a:effectLst/>
                <a:latin typeface="Ginto"/>
              </a:rPr>
              <a:t>Overview</a:t>
            </a:r>
            <a:r>
              <a:rPr lang="en-US" sz="1800" b="0" i="0" dirty="0">
                <a:solidFill>
                  <a:srgbClr val="282523"/>
                </a:solidFill>
                <a:effectLst/>
                <a:latin typeface="Ginto"/>
              </a:rPr>
              <a:t>: Uniswap is a decentralized exchange protocol built on Ethereum that allows users to trade ERC-20 tokens directly from their wallets.</a:t>
            </a:r>
          </a:p>
          <a:p>
            <a:pPr algn="l">
              <a:lnSpc>
                <a:spcPct val="150000"/>
              </a:lnSpc>
              <a:buFont typeface="Arial" panose="020B0604020202020204" pitchFamily="34" charset="0"/>
              <a:buChar char="•"/>
            </a:pPr>
            <a:r>
              <a:rPr lang="en-US" sz="1800" b="1" i="0" dirty="0">
                <a:solidFill>
                  <a:srgbClr val="282523"/>
                </a:solidFill>
                <a:effectLst/>
                <a:latin typeface="Ginto"/>
              </a:rPr>
              <a:t>Launch</a:t>
            </a:r>
            <a:r>
              <a:rPr lang="en-US" sz="1800" b="0" i="0" dirty="0">
                <a:solidFill>
                  <a:srgbClr val="282523"/>
                </a:solidFill>
                <a:effectLst/>
                <a:latin typeface="Ginto"/>
              </a:rPr>
              <a:t>: It was launched in November 2018 by Hayden Adams.</a:t>
            </a:r>
          </a:p>
          <a:p>
            <a:pPr algn="l">
              <a:lnSpc>
                <a:spcPct val="150000"/>
              </a:lnSpc>
              <a:buFont typeface="Arial" panose="020B0604020202020204" pitchFamily="34" charset="0"/>
              <a:buChar char="•"/>
            </a:pPr>
            <a:r>
              <a:rPr lang="en-US" sz="1800" b="1" i="0" dirty="0">
                <a:solidFill>
                  <a:srgbClr val="282523"/>
                </a:solidFill>
                <a:effectLst/>
                <a:latin typeface="Ginto"/>
              </a:rPr>
              <a:t>Success</a:t>
            </a:r>
            <a:r>
              <a:rPr lang="en-US" sz="1800" b="0" i="0" dirty="0">
                <a:solidFill>
                  <a:srgbClr val="282523"/>
                </a:solidFill>
                <a:effectLst/>
                <a:latin typeface="Ginto"/>
              </a:rPr>
              <a:t>: Uniswap pioneered the automated market maker (AMM) model, which has significantly increased liquidity and trading volume in the DeFi space. It has become one of the most popular DEXs (decentralized exchanges).</a:t>
            </a:r>
          </a:p>
          <a:p>
            <a:pPr algn="l">
              <a:lnSpc>
                <a:spcPct val="150000"/>
              </a:lnSpc>
            </a:pPr>
            <a:r>
              <a:rPr lang="en-US" sz="1800" b="0" i="0" dirty="0">
                <a:solidFill>
                  <a:srgbClr val="282523"/>
                </a:solidFill>
                <a:effectLst/>
                <a:latin typeface="Ginto"/>
              </a:rPr>
              <a:t>These case studies highlight how innovative ideas and strong execution can lead to significant success in the crypto token space. Each project brought something unique to the table, setting new standards and paving the way for future developments.</a:t>
            </a:r>
          </a:p>
          <a:p>
            <a:endParaRPr lang="en-IN" dirty="0"/>
          </a:p>
        </p:txBody>
      </p:sp>
    </p:spTree>
    <p:extLst>
      <p:ext uri="{BB962C8B-B14F-4D97-AF65-F5344CB8AC3E}">
        <p14:creationId xmlns:p14="http://schemas.microsoft.com/office/powerpoint/2010/main" val="3299693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B9E44-CA32-20B4-EC94-FC1796E3F1D3}"/>
              </a:ext>
            </a:extLst>
          </p:cNvPr>
          <p:cNvSpPr>
            <a:spLocks noGrp="1"/>
          </p:cNvSpPr>
          <p:nvPr>
            <p:ph type="title"/>
          </p:nvPr>
        </p:nvSpPr>
        <p:spPr/>
        <p:txBody>
          <a:bodyPr/>
          <a:lstStyle/>
          <a:p>
            <a:r>
              <a:rPr lang="en-US" dirty="0"/>
              <a:t>Conclusion </a:t>
            </a:r>
            <a:endParaRPr lang="en-IN" dirty="0"/>
          </a:p>
        </p:txBody>
      </p:sp>
      <p:sp>
        <p:nvSpPr>
          <p:cNvPr id="3" name="Content Placeholder 2">
            <a:extLst>
              <a:ext uri="{FF2B5EF4-FFF2-40B4-BE49-F238E27FC236}">
                <a16:creationId xmlns:a16="http://schemas.microsoft.com/office/drawing/2014/main" id="{8D36A9F0-4F3D-8F20-64E1-70DDF88B3B7C}"/>
              </a:ext>
            </a:extLst>
          </p:cNvPr>
          <p:cNvSpPr>
            <a:spLocks noGrp="1"/>
          </p:cNvSpPr>
          <p:nvPr>
            <p:ph idx="1"/>
          </p:nvPr>
        </p:nvSpPr>
        <p:spPr/>
        <p:txBody>
          <a:bodyPr/>
          <a:lstStyle/>
          <a:p>
            <a:pPr algn="ctr">
              <a:lnSpc>
                <a:spcPct val="200000"/>
              </a:lnSpc>
            </a:pPr>
            <a:r>
              <a:rPr lang="en-US" b="1" i="0" dirty="0">
                <a:solidFill>
                  <a:srgbClr val="282523"/>
                </a:solidFill>
                <a:effectLst/>
                <a:latin typeface="Ginto"/>
              </a:rPr>
              <a:t>Summary of Key Points:</a:t>
            </a:r>
            <a:r>
              <a:rPr lang="en-US" b="0" i="0" dirty="0">
                <a:solidFill>
                  <a:srgbClr val="282523"/>
                </a:solidFill>
                <a:effectLst/>
                <a:latin typeface="Ginto"/>
              </a:rPr>
              <a:t> This presentation has walked us through the fascinating process of crypto token development, starting from conceptualizing an idea, drafting a white paper, designing the technical architecture, and creating smart contracts. We've covered the different types of tokens, the key blockchain platforms used, the important aspect of </a:t>
            </a:r>
            <a:r>
              <a:rPr lang="en-US" b="0" i="0" dirty="0" err="1">
                <a:solidFill>
                  <a:srgbClr val="282523"/>
                </a:solidFill>
                <a:effectLst/>
                <a:latin typeface="Ginto"/>
              </a:rPr>
              <a:t>tokenomics</a:t>
            </a:r>
            <a:r>
              <a:rPr lang="en-US" b="0" i="0" dirty="0">
                <a:solidFill>
                  <a:srgbClr val="282523"/>
                </a:solidFill>
                <a:effectLst/>
                <a:latin typeface="Ginto"/>
              </a:rPr>
              <a:t>, and the crucial legal and regulatory considerations. Finally, we explored the steps involved in deploying tokens, marketing and launching them successfully, and looked at case studies of successful token projects.</a:t>
            </a:r>
          </a:p>
          <a:p>
            <a:pPr>
              <a:lnSpc>
                <a:spcPct val="200000"/>
              </a:lnSpc>
            </a:pPr>
            <a:endParaRPr lang="en-IN" dirty="0"/>
          </a:p>
        </p:txBody>
      </p:sp>
    </p:spTree>
    <p:extLst>
      <p:ext uri="{BB962C8B-B14F-4D97-AF65-F5344CB8AC3E}">
        <p14:creationId xmlns:p14="http://schemas.microsoft.com/office/powerpoint/2010/main" val="36098780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8AB161-5CF1-A14B-20C5-9F0AB8DCA6C2}"/>
              </a:ext>
            </a:extLst>
          </p:cNvPr>
          <p:cNvSpPr>
            <a:spLocks noGrp="1"/>
          </p:cNvSpPr>
          <p:nvPr>
            <p:ph idx="1"/>
          </p:nvPr>
        </p:nvSpPr>
        <p:spPr>
          <a:xfrm>
            <a:off x="1066800" y="1189703"/>
            <a:ext cx="10058400" cy="4845337"/>
          </a:xfrm>
        </p:spPr>
        <p:txBody>
          <a:bodyPr/>
          <a:lstStyle/>
          <a:p>
            <a:pPr>
              <a:lnSpc>
                <a:spcPct val="200000"/>
              </a:lnSpc>
            </a:pPr>
            <a:r>
              <a:rPr lang="en-US" b="1" i="0" dirty="0">
                <a:solidFill>
                  <a:srgbClr val="282523"/>
                </a:solidFill>
                <a:effectLst/>
                <a:latin typeface="Ginto"/>
              </a:rPr>
              <a:t>The Future of Crypto Token Development:</a:t>
            </a:r>
            <a:r>
              <a:rPr lang="en-US" b="0" i="0" dirty="0">
                <a:solidFill>
                  <a:srgbClr val="282523"/>
                </a:solidFill>
                <a:effectLst/>
                <a:latin typeface="Ginto"/>
              </a:rPr>
              <a:t> The future of crypto token development holds immense potential. With the continuous evolution of blockchain technology, we can expect to see more sophisticated tokens, enhanced security protocols, and greater integration with traditional financial systems. Innovations such as Decentralized Finance (DeFi) and Non-Fungible Tokens (NFTs) are just the beginning of how tokens can revolutionize various industries. As regulatory frameworks become clearer, the legitimacy and adoption of crypto tokens will continue to grow, paving the way for a more decentralized and inclusive financial future.</a:t>
            </a:r>
          </a:p>
          <a:p>
            <a:endParaRPr lang="en-IN" dirty="0"/>
          </a:p>
        </p:txBody>
      </p:sp>
    </p:spTree>
    <p:extLst>
      <p:ext uri="{BB962C8B-B14F-4D97-AF65-F5344CB8AC3E}">
        <p14:creationId xmlns:p14="http://schemas.microsoft.com/office/powerpoint/2010/main" val="1731994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2F4D4-E9C5-FF11-C770-AD483618F9A6}"/>
              </a:ext>
            </a:extLst>
          </p:cNvPr>
          <p:cNvSpPr>
            <a:spLocks noGrp="1"/>
          </p:cNvSpPr>
          <p:nvPr>
            <p:ph type="title"/>
          </p:nvPr>
        </p:nvSpPr>
        <p:spPr>
          <a:xfrm>
            <a:off x="914401" y="255639"/>
            <a:ext cx="8190270" cy="943896"/>
          </a:xfrm>
        </p:spPr>
        <p:txBody>
          <a:bodyPr/>
          <a:lstStyle/>
          <a:p>
            <a:r>
              <a:rPr lang="en-US" dirty="0"/>
              <a:t>SAMPLE Q&amp;A</a:t>
            </a:r>
            <a:endParaRPr lang="en-IN" dirty="0"/>
          </a:p>
        </p:txBody>
      </p:sp>
      <p:sp>
        <p:nvSpPr>
          <p:cNvPr id="3" name="Content Placeholder 2">
            <a:extLst>
              <a:ext uri="{FF2B5EF4-FFF2-40B4-BE49-F238E27FC236}">
                <a16:creationId xmlns:a16="http://schemas.microsoft.com/office/drawing/2014/main" id="{35CA79C4-85C9-AE48-3821-F4A28EB12D97}"/>
              </a:ext>
            </a:extLst>
          </p:cNvPr>
          <p:cNvSpPr>
            <a:spLocks noGrp="1"/>
          </p:cNvSpPr>
          <p:nvPr>
            <p:ph idx="1"/>
          </p:nvPr>
        </p:nvSpPr>
        <p:spPr>
          <a:xfrm>
            <a:off x="363795" y="1199535"/>
            <a:ext cx="11484076" cy="5230762"/>
          </a:xfrm>
        </p:spPr>
        <p:txBody>
          <a:bodyPr>
            <a:normAutofit/>
          </a:bodyPr>
          <a:lstStyle/>
          <a:p>
            <a:pPr algn="l">
              <a:lnSpc>
                <a:spcPct val="150000"/>
              </a:lnSpc>
            </a:pPr>
            <a:r>
              <a:rPr lang="en-US" b="1" i="0" dirty="0">
                <a:solidFill>
                  <a:srgbClr val="282523"/>
                </a:solidFill>
                <a:effectLst/>
                <a:latin typeface="Ginto"/>
              </a:rPr>
              <a:t>Q1: What are the main differences between utility tokens and security tokens?</a:t>
            </a:r>
            <a:r>
              <a:rPr lang="en-US" b="0" i="0" dirty="0">
                <a:solidFill>
                  <a:srgbClr val="282523"/>
                </a:solidFill>
                <a:effectLst/>
                <a:latin typeface="Ginto"/>
              </a:rPr>
              <a:t> </a:t>
            </a:r>
            <a:r>
              <a:rPr lang="en-US" b="1" i="0" dirty="0">
                <a:solidFill>
                  <a:srgbClr val="282523"/>
                </a:solidFill>
                <a:effectLst/>
                <a:latin typeface="Ginto"/>
              </a:rPr>
              <a:t>A1:</a:t>
            </a:r>
            <a:r>
              <a:rPr lang="en-US" b="0" i="0" dirty="0">
                <a:solidFill>
                  <a:srgbClr val="282523"/>
                </a:solidFill>
                <a:effectLst/>
                <a:latin typeface="Ginto"/>
              </a:rPr>
              <a:t> Utility tokens provide access to a service or product within a blockchain ecosystem, often used to incentivize users and developers. Security tokens represent ownership in an asset and are subject to securities regulations, similar to stocks or bonds.</a:t>
            </a:r>
          </a:p>
          <a:p>
            <a:pPr algn="l">
              <a:lnSpc>
                <a:spcPct val="150000"/>
              </a:lnSpc>
            </a:pPr>
            <a:r>
              <a:rPr lang="en-US" b="1" i="0" dirty="0">
                <a:solidFill>
                  <a:srgbClr val="282523"/>
                </a:solidFill>
                <a:effectLst/>
                <a:latin typeface="Ginto"/>
              </a:rPr>
              <a:t>Q2: Why is the white paper important in the token development process?</a:t>
            </a:r>
            <a:r>
              <a:rPr lang="en-US" b="0" i="0" dirty="0">
                <a:solidFill>
                  <a:srgbClr val="282523"/>
                </a:solidFill>
                <a:effectLst/>
                <a:latin typeface="Ginto"/>
              </a:rPr>
              <a:t> </a:t>
            </a:r>
            <a:r>
              <a:rPr lang="en-US" b="1" i="0" dirty="0">
                <a:solidFill>
                  <a:srgbClr val="282523"/>
                </a:solidFill>
                <a:effectLst/>
                <a:latin typeface="Ginto"/>
              </a:rPr>
              <a:t>A2:</a:t>
            </a:r>
            <a:r>
              <a:rPr lang="en-US" b="0" i="0" dirty="0">
                <a:solidFill>
                  <a:srgbClr val="282523"/>
                </a:solidFill>
                <a:effectLst/>
                <a:latin typeface="Ginto"/>
              </a:rPr>
              <a:t> The white paper is crucial as it outlines the project's vision, technology, use cases, and roadmap. It provides potential investors and users with detailed information about the project, helping to build trust and credibility.</a:t>
            </a:r>
          </a:p>
          <a:p>
            <a:pPr>
              <a:lnSpc>
                <a:spcPct val="150000"/>
              </a:lnSpc>
            </a:pPr>
            <a:r>
              <a:rPr lang="en-US" sz="1800" b="1" i="0" dirty="0">
                <a:solidFill>
                  <a:srgbClr val="282523"/>
                </a:solidFill>
                <a:effectLst/>
                <a:latin typeface="Ginto"/>
              </a:rPr>
              <a:t>Q3: What are the key security measures to consider when developing smart contracts?</a:t>
            </a:r>
            <a:r>
              <a:rPr lang="en-US" sz="1800" b="0" i="0" dirty="0">
                <a:solidFill>
                  <a:srgbClr val="282523"/>
                </a:solidFill>
                <a:effectLst/>
                <a:latin typeface="Ginto"/>
              </a:rPr>
              <a:t> </a:t>
            </a:r>
            <a:r>
              <a:rPr lang="en-US" sz="1800" b="1" i="0" dirty="0">
                <a:solidFill>
                  <a:srgbClr val="282523"/>
                </a:solidFill>
                <a:effectLst/>
                <a:latin typeface="Ginto"/>
              </a:rPr>
              <a:t>A3:</a:t>
            </a:r>
            <a:r>
              <a:rPr lang="en-US" sz="1800" b="0" i="0" dirty="0">
                <a:solidFill>
                  <a:srgbClr val="282523"/>
                </a:solidFill>
                <a:effectLst/>
                <a:latin typeface="Ginto"/>
              </a:rPr>
              <a:t> Key security measures include thorough testing, code audits, and implementing secure coding practices. It's also important to use well-established development tools and frameworks, and consider external audits from reputable firms.</a:t>
            </a:r>
          </a:p>
          <a:p>
            <a:pPr algn="l">
              <a:lnSpc>
                <a:spcPct val="150000"/>
              </a:lnSpc>
            </a:pPr>
            <a:endParaRPr lang="en-US" b="0" i="0" dirty="0">
              <a:solidFill>
                <a:srgbClr val="282523"/>
              </a:solidFill>
              <a:effectLst/>
              <a:latin typeface="Ginto"/>
            </a:endParaRPr>
          </a:p>
          <a:p>
            <a:endParaRPr lang="en-IN" dirty="0"/>
          </a:p>
        </p:txBody>
      </p:sp>
    </p:spTree>
    <p:extLst>
      <p:ext uri="{BB962C8B-B14F-4D97-AF65-F5344CB8AC3E}">
        <p14:creationId xmlns:p14="http://schemas.microsoft.com/office/powerpoint/2010/main" val="2502848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1BB18-861B-5669-01E2-004C747485F5}"/>
              </a:ext>
            </a:extLst>
          </p:cNvPr>
          <p:cNvSpPr>
            <a:spLocks noGrp="1"/>
          </p:cNvSpPr>
          <p:nvPr>
            <p:ph idx="1"/>
          </p:nvPr>
        </p:nvSpPr>
        <p:spPr>
          <a:xfrm>
            <a:off x="1066800" y="835742"/>
            <a:ext cx="10058400" cy="5199298"/>
          </a:xfrm>
        </p:spPr>
        <p:txBody>
          <a:bodyPr>
            <a:normAutofit/>
          </a:bodyPr>
          <a:lstStyle/>
          <a:p>
            <a:pPr algn="ctr">
              <a:lnSpc>
                <a:spcPct val="200000"/>
              </a:lnSpc>
            </a:pPr>
            <a:r>
              <a:rPr lang="en-US" sz="1800" b="1" i="0" dirty="0">
                <a:solidFill>
                  <a:srgbClr val="282523"/>
                </a:solidFill>
                <a:effectLst/>
                <a:latin typeface="Ginto"/>
              </a:rPr>
              <a:t>Q4: How do regulatory considerations impact token development?</a:t>
            </a:r>
            <a:r>
              <a:rPr lang="en-US" sz="1800" b="0" i="0" dirty="0">
                <a:solidFill>
                  <a:srgbClr val="282523"/>
                </a:solidFill>
                <a:effectLst/>
                <a:latin typeface="Ginto"/>
              </a:rPr>
              <a:t> </a:t>
            </a:r>
            <a:r>
              <a:rPr lang="en-US" sz="1800" b="1" i="0" dirty="0">
                <a:solidFill>
                  <a:srgbClr val="282523"/>
                </a:solidFill>
                <a:effectLst/>
                <a:latin typeface="Ginto"/>
              </a:rPr>
              <a:t>A4:</a:t>
            </a:r>
            <a:r>
              <a:rPr lang="en-US" sz="1800" b="0" i="0" dirty="0">
                <a:solidFill>
                  <a:srgbClr val="282523"/>
                </a:solidFill>
                <a:effectLst/>
                <a:latin typeface="Ginto"/>
              </a:rPr>
              <a:t> Regulatory considerations are essential to ensure compliance with laws such as KYC (Know Your Customer) and AML (Anti-Money Laundering). Compliance helps prevent legal issues and ensures the token can be legally traded and used. It's important to stay updated on regulations as they can vary by region.</a:t>
            </a:r>
          </a:p>
          <a:p>
            <a:pPr algn="ctr">
              <a:lnSpc>
                <a:spcPct val="200000"/>
              </a:lnSpc>
            </a:pPr>
            <a:r>
              <a:rPr lang="en-US" sz="1800" b="1" i="0" dirty="0">
                <a:solidFill>
                  <a:srgbClr val="282523"/>
                </a:solidFill>
                <a:effectLst/>
                <a:latin typeface="Ginto"/>
              </a:rPr>
              <a:t>Q5: What are some future trends in the crypto token space?</a:t>
            </a:r>
            <a:r>
              <a:rPr lang="en-US" sz="1800" b="0" i="0" dirty="0">
                <a:solidFill>
                  <a:srgbClr val="282523"/>
                </a:solidFill>
                <a:effectLst/>
                <a:latin typeface="Ginto"/>
              </a:rPr>
              <a:t> </a:t>
            </a:r>
            <a:r>
              <a:rPr lang="en-US" sz="1800" b="1" i="0" dirty="0">
                <a:solidFill>
                  <a:srgbClr val="282523"/>
                </a:solidFill>
                <a:effectLst/>
                <a:latin typeface="Ginto"/>
              </a:rPr>
              <a:t>A5:</a:t>
            </a:r>
            <a:r>
              <a:rPr lang="en-US" sz="1800" b="0" i="0" dirty="0">
                <a:solidFill>
                  <a:srgbClr val="282523"/>
                </a:solidFill>
                <a:effectLst/>
                <a:latin typeface="Ginto"/>
              </a:rPr>
              <a:t> Future trends include the growth of DeFi (Decentralized Finance), the rise of NFTs (Non-Fungible Tokens), and advancements in cross-chain interoperability, which will enhance the utility and adoption of tokens. We can also expect increased integration with traditional financial systems and more robust regulatory frameworks</a:t>
            </a:r>
          </a:p>
          <a:p>
            <a:endParaRPr lang="en-IN" dirty="0"/>
          </a:p>
        </p:txBody>
      </p:sp>
    </p:spTree>
    <p:extLst>
      <p:ext uri="{BB962C8B-B14F-4D97-AF65-F5344CB8AC3E}">
        <p14:creationId xmlns:p14="http://schemas.microsoft.com/office/powerpoint/2010/main" val="2469594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68C7-199D-F6D2-423F-49AE82F6BC6B}"/>
              </a:ext>
            </a:extLst>
          </p:cNvPr>
          <p:cNvSpPr>
            <a:spLocks noGrp="1"/>
          </p:cNvSpPr>
          <p:nvPr>
            <p:ph type="title"/>
          </p:nvPr>
        </p:nvSpPr>
        <p:spPr/>
        <p:txBody>
          <a:bodyPr/>
          <a:lstStyle/>
          <a:p>
            <a:r>
              <a:rPr lang="en-US" b="1" dirty="0"/>
              <a:t>BIBLIOGRAPHY	</a:t>
            </a:r>
            <a:endParaRPr lang="en-IN" b="1" dirty="0"/>
          </a:p>
        </p:txBody>
      </p:sp>
      <p:sp>
        <p:nvSpPr>
          <p:cNvPr id="3" name="Content Placeholder 2">
            <a:extLst>
              <a:ext uri="{FF2B5EF4-FFF2-40B4-BE49-F238E27FC236}">
                <a16:creationId xmlns:a16="http://schemas.microsoft.com/office/drawing/2014/main" id="{9FFD999F-F025-3E24-B626-F2828486D24C}"/>
              </a:ext>
            </a:extLst>
          </p:cNvPr>
          <p:cNvSpPr>
            <a:spLocks noGrp="1"/>
          </p:cNvSpPr>
          <p:nvPr>
            <p:ph idx="1"/>
          </p:nvPr>
        </p:nvSpPr>
        <p:spPr>
          <a:xfrm>
            <a:off x="776749" y="1848465"/>
            <a:ext cx="10530348" cy="4513005"/>
          </a:xfrm>
        </p:spPr>
        <p:txBody>
          <a:bodyPr>
            <a:normAutofit fontScale="92500"/>
          </a:bodyPr>
          <a:lstStyle/>
          <a:p>
            <a:pPr>
              <a:lnSpc>
                <a:spcPct val="150000"/>
              </a:lnSpc>
            </a:pPr>
            <a:r>
              <a:rPr lang="en-IN" b="1" i="0" dirty="0" err="1">
                <a:solidFill>
                  <a:srgbClr val="282523"/>
                </a:solidFill>
                <a:effectLst/>
                <a:latin typeface="Ginto"/>
              </a:rPr>
              <a:t>Schwiderowski</a:t>
            </a:r>
            <a:r>
              <a:rPr lang="en-IN" b="1" i="0" dirty="0">
                <a:solidFill>
                  <a:srgbClr val="282523"/>
                </a:solidFill>
                <a:effectLst/>
                <a:latin typeface="Ginto"/>
              </a:rPr>
              <a:t>, J., Pedersen, A. B., &amp; Beck, R. (2023).</a:t>
            </a:r>
            <a:r>
              <a:rPr lang="en-IN" b="0" i="0" dirty="0">
                <a:solidFill>
                  <a:srgbClr val="282523"/>
                </a:solidFill>
                <a:effectLst/>
                <a:latin typeface="Ginto"/>
              </a:rPr>
              <a:t> "Crypto Tokens and Token Systems." </a:t>
            </a:r>
            <a:r>
              <a:rPr lang="en-IN" b="0" i="1" dirty="0">
                <a:solidFill>
                  <a:srgbClr val="282523"/>
                </a:solidFill>
                <a:effectLst/>
                <a:latin typeface="Ginto"/>
              </a:rPr>
              <a:t>Information Systems Frontiers</a:t>
            </a:r>
            <a:r>
              <a:rPr lang="en-IN" b="0" i="0" dirty="0">
                <a:solidFill>
                  <a:srgbClr val="282523"/>
                </a:solidFill>
                <a:effectLst/>
                <a:latin typeface="Ginto"/>
              </a:rPr>
              <a:t>, 26, 319-332 - </a:t>
            </a:r>
            <a:r>
              <a:rPr lang="en-IN" b="0" i="0" u="sng" dirty="0">
                <a:solidFill>
                  <a:srgbClr val="282523"/>
                </a:solidFill>
                <a:effectLst/>
                <a:latin typeface="Ginto"/>
                <a:hlinkClick r:id="rId2"/>
              </a:rPr>
              <a:t>https://link.springer.com/article/10.1007/s10796-023-10382-w?formCode=MG0AV3</a:t>
            </a:r>
            <a:r>
              <a:rPr lang="en-IN" b="0" i="0" u="sng" dirty="0">
                <a:solidFill>
                  <a:srgbClr val="282523"/>
                </a:solidFill>
                <a:effectLst/>
                <a:latin typeface="Ginto"/>
              </a:rPr>
              <a:t> </a:t>
            </a:r>
          </a:p>
          <a:p>
            <a:pPr>
              <a:lnSpc>
                <a:spcPct val="150000"/>
              </a:lnSpc>
            </a:pPr>
            <a:r>
              <a:rPr lang="en-US" b="1" i="0" dirty="0">
                <a:solidFill>
                  <a:srgbClr val="282523"/>
                </a:solidFill>
                <a:effectLst/>
                <a:latin typeface="Ginto"/>
              </a:rPr>
              <a:t>Oodles Blockchain. (2024).</a:t>
            </a:r>
            <a:r>
              <a:rPr lang="en-US" b="0" i="0" dirty="0">
                <a:solidFill>
                  <a:srgbClr val="282523"/>
                </a:solidFill>
                <a:effectLst/>
                <a:latin typeface="Ginto"/>
              </a:rPr>
              <a:t> "The Comprehensive Guide to Crypto Token Development." </a:t>
            </a:r>
            <a:r>
              <a:rPr lang="en-US" b="0" i="1" dirty="0">
                <a:solidFill>
                  <a:srgbClr val="282523"/>
                </a:solidFill>
                <a:effectLst/>
                <a:latin typeface="Ginto"/>
              </a:rPr>
              <a:t>Blockchain Oodles Blog-   </a:t>
            </a:r>
            <a:r>
              <a:rPr lang="en-US" b="0" u="sng" dirty="0">
                <a:solidFill>
                  <a:srgbClr val="282523"/>
                </a:solidFill>
                <a:effectLst/>
                <a:latin typeface="Ginto"/>
              </a:rPr>
              <a:t>https://blockchain.oodles.io/blog/guide-crypto-token-development/?formCode=MG0AV3</a:t>
            </a:r>
            <a:endParaRPr lang="en-IN" u="sng" dirty="0">
              <a:solidFill>
                <a:srgbClr val="282523"/>
              </a:solidFill>
              <a:latin typeface="Ginto"/>
            </a:endParaRPr>
          </a:p>
          <a:p>
            <a:pPr>
              <a:lnSpc>
                <a:spcPct val="150000"/>
              </a:lnSpc>
            </a:pPr>
            <a:r>
              <a:rPr lang="en-US" b="1" i="0" dirty="0" err="1">
                <a:solidFill>
                  <a:srgbClr val="282523"/>
                </a:solidFill>
                <a:effectLst/>
                <a:latin typeface="Ginto"/>
              </a:rPr>
              <a:t>Bitbond</a:t>
            </a:r>
            <a:r>
              <a:rPr lang="en-US" b="1" i="0" dirty="0">
                <a:solidFill>
                  <a:srgbClr val="282523"/>
                </a:solidFill>
                <a:effectLst/>
                <a:latin typeface="Ginto"/>
              </a:rPr>
              <a:t>. (2024).</a:t>
            </a:r>
            <a:r>
              <a:rPr lang="en-US" b="0" i="0" dirty="0">
                <a:solidFill>
                  <a:srgbClr val="282523"/>
                </a:solidFill>
                <a:effectLst/>
                <a:latin typeface="Ginto"/>
              </a:rPr>
              <a:t> "Navigating Crypto Token Development: A Strategic Approach." </a:t>
            </a:r>
            <a:r>
              <a:rPr lang="en-US" b="0" i="1" dirty="0" err="1">
                <a:solidFill>
                  <a:srgbClr val="282523"/>
                </a:solidFill>
                <a:effectLst/>
                <a:latin typeface="Ginto"/>
              </a:rPr>
              <a:t>Bitbond</a:t>
            </a:r>
            <a:r>
              <a:rPr lang="en-US" b="0" i="1" dirty="0">
                <a:solidFill>
                  <a:srgbClr val="282523"/>
                </a:solidFill>
                <a:effectLst/>
                <a:latin typeface="Ginto"/>
              </a:rPr>
              <a:t> Resources- </a:t>
            </a:r>
            <a:r>
              <a:rPr lang="en-US" b="0" i="1" u="sng" dirty="0">
                <a:solidFill>
                  <a:srgbClr val="282523"/>
                </a:solidFill>
                <a:effectLst/>
                <a:latin typeface="Ginto"/>
              </a:rPr>
              <a:t>https://www.bitbond.com/resources/navigating-crypto-token-development/?formCode=MG0AV3</a:t>
            </a:r>
          </a:p>
          <a:p>
            <a:pPr>
              <a:lnSpc>
                <a:spcPct val="150000"/>
              </a:lnSpc>
            </a:pPr>
            <a:r>
              <a:rPr lang="en-IN" b="1" i="0" dirty="0">
                <a:solidFill>
                  <a:srgbClr val="282523"/>
                </a:solidFill>
                <a:effectLst/>
                <a:latin typeface="Ginto"/>
              </a:rPr>
              <a:t>Springer. (2024).</a:t>
            </a:r>
            <a:r>
              <a:rPr lang="en-IN" b="0" i="0" dirty="0">
                <a:solidFill>
                  <a:srgbClr val="282523"/>
                </a:solidFill>
                <a:effectLst/>
                <a:latin typeface="Ginto"/>
              </a:rPr>
              <a:t> "Crypto Tokens and Token Offerings: An Introduction." </a:t>
            </a:r>
            <a:r>
              <a:rPr lang="en-IN" b="0" i="1" dirty="0">
                <a:solidFill>
                  <a:srgbClr val="282523"/>
                </a:solidFill>
                <a:effectLst/>
                <a:latin typeface="Ginto"/>
              </a:rPr>
              <a:t>Springer</a:t>
            </a:r>
            <a:r>
              <a:rPr lang="en-IN" dirty="0">
                <a:solidFill>
                  <a:srgbClr val="282523"/>
                </a:solidFill>
                <a:latin typeface="Ginto"/>
              </a:rPr>
              <a:t>- </a:t>
            </a:r>
            <a:r>
              <a:rPr lang="en-IN" u="sng" dirty="0">
                <a:solidFill>
                  <a:srgbClr val="282523"/>
                </a:solidFill>
                <a:latin typeface="Ginto"/>
              </a:rPr>
              <a:t>https://link.springer.com/content/pdf/10.1007/978-3-030-30738-7_8.pdf?formCode=MG0AV3</a:t>
            </a:r>
            <a:endParaRPr lang="en-US" i="1" u="sng" dirty="0">
              <a:solidFill>
                <a:srgbClr val="282523"/>
              </a:solidFill>
              <a:latin typeface="Ginto"/>
            </a:endParaRPr>
          </a:p>
          <a:p>
            <a:pPr>
              <a:lnSpc>
                <a:spcPct val="150000"/>
              </a:lnSpc>
            </a:pPr>
            <a:r>
              <a:rPr lang="en-IN" b="1" i="0" dirty="0">
                <a:solidFill>
                  <a:srgbClr val="282523"/>
                </a:solidFill>
                <a:effectLst/>
                <a:latin typeface="Ginto"/>
              </a:rPr>
              <a:t>Rapid Innovation. (2024).</a:t>
            </a:r>
            <a:r>
              <a:rPr lang="en-IN" b="0" i="0" dirty="0">
                <a:solidFill>
                  <a:srgbClr val="282523"/>
                </a:solidFill>
                <a:effectLst/>
                <a:latin typeface="Ginto"/>
              </a:rPr>
              <a:t> "Crypto Token Development: A Comprehensive Guide." </a:t>
            </a:r>
            <a:r>
              <a:rPr lang="en-IN" b="0" i="1" dirty="0">
                <a:solidFill>
                  <a:srgbClr val="282523"/>
                </a:solidFill>
                <a:effectLst/>
                <a:latin typeface="Ginto"/>
              </a:rPr>
              <a:t>Rapid Innovation Blog</a:t>
            </a:r>
            <a:r>
              <a:rPr lang="en-US" b="0" i="1" dirty="0">
                <a:solidFill>
                  <a:srgbClr val="282523"/>
                </a:solidFill>
                <a:effectLst/>
                <a:latin typeface="Ginto"/>
              </a:rPr>
              <a:t> - </a:t>
            </a:r>
            <a:r>
              <a:rPr lang="en-US" b="0" i="1" u="sng" dirty="0">
                <a:solidFill>
                  <a:srgbClr val="282523"/>
                </a:solidFill>
                <a:effectLst/>
                <a:latin typeface="Ginto"/>
              </a:rPr>
              <a:t>https://www.rapidinnovation.io/post/crypto-token-development-a-comprehensive-guide?formCode=MG0AV3</a:t>
            </a:r>
            <a:endParaRPr lang="en-IN" u="sng" dirty="0"/>
          </a:p>
        </p:txBody>
      </p:sp>
    </p:spTree>
    <p:extLst>
      <p:ext uri="{BB962C8B-B14F-4D97-AF65-F5344CB8AC3E}">
        <p14:creationId xmlns:p14="http://schemas.microsoft.com/office/powerpoint/2010/main" val="29632395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48125-5F84-365B-1C97-80241E57A975}"/>
              </a:ext>
            </a:extLst>
          </p:cNvPr>
          <p:cNvSpPr>
            <a:spLocks noGrp="1"/>
          </p:cNvSpPr>
          <p:nvPr>
            <p:ph type="title"/>
          </p:nvPr>
        </p:nvSpPr>
        <p:spPr/>
        <p:txBody>
          <a:bodyPr/>
          <a:lstStyle/>
          <a:p>
            <a:r>
              <a:rPr lang="en-US" dirty="0"/>
              <a:t>THANKYOU!</a:t>
            </a:r>
            <a:endParaRPr lang="en-IN" dirty="0"/>
          </a:p>
        </p:txBody>
      </p:sp>
      <p:sp>
        <p:nvSpPr>
          <p:cNvPr id="3" name="Text Placeholder 2">
            <a:extLst>
              <a:ext uri="{FF2B5EF4-FFF2-40B4-BE49-F238E27FC236}">
                <a16:creationId xmlns:a16="http://schemas.microsoft.com/office/drawing/2014/main" id="{A45205DA-85E6-E1DF-6590-3A97B2A40225}"/>
              </a:ext>
            </a:extLst>
          </p:cNvPr>
          <p:cNvSpPr>
            <a:spLocks noGrp="1"/>
          </p:cNvSpPr>
          <p:nvPr>
            <p:ph type="body" idx="1"/>
          </p:nvPr>
        </p:nvSpPr>
        <p:spPr>
          <a:xfrm>
            <a:off x="1563624" y="4227871"/>
            <a:ext cx="9070848" cy="911391"/>
          </a:xfrm>
        </p:spPr>
        <p:txBody>
          <a:bodyPr>
            <a:normAutofit/>
          </a:bodyPr>
          <a:lstStyle/>
          <a:p>
            <a:r>
              <a:rPr lang="en-US" sz="1600" b="0" i="0" dirty="0">
                <a:solidFill>
                  <a:srgbClr val="282523"/>
                </a:solidFill>
                <a:effectLst/>
                <a:latin typeface="Ginto"/>
              </a:rPr>
              <a:t>These references provide comprehensive information on various aspects of crypto token development, including key features, benefits, challenges, and future trends. I’ve re-verified it to be true and precise.</a:t>
            </a:r>
            <a:endParaRPr lang="en-IN" dirty="0"/>
          </a:p>
        </p:txBody>
      </p:sp>
    </p:spTree>
    <p:extLst>
      <p:ext uri="{BB962C8B-B14F-4D97-AF65-F5344CB8AC3E}">
        <p14:creationId xmlns:p14="http://schemas.microsoft.com/office/powerpoint/2010/main" val="4028876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35</TotalTime>
  <Words>1988</Words>
  <Application>Microsoft Office PowerPoint</Application>
  <PresentationFormat>Widescreen</PresentationFormat>
  <Paragraphs>113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Century Gothic</vt:lpstr>
      <vt:lpstr>Garamond</vt:lpstr>
      <vt:lpstr>Ginto</vt:lpstr>
      <vt:lpstr>Savon</vt:lpstr>
      <vt:lpstr>Crypto Token Development </vt:lpstr>
      <vt:lpstr>Introduction </vt:lpstr>
      <vt:lpstr> Types of Crypto Tokens </vt:lpstr>
      <vt:lpstr>PowerPoint Presentation</vt:lpstr>
      <vt:lpstr>The Development Process </vt:lpstr>
      <vt:lpstr>Blockchain Platforms </vt:lpstr>
      <vt:lpstr>Smart Contract Development </vt:lpstr>
      <vt:lpstr>Tokenomics </vt:lpstr>
      <vt:lpstr> Legal and Regulatory Considerations </vt:lpstr>
      <vt:lpstr>Token Deployment  </vt:lpstr>
      <vt:lpstr> Marketing and Launch </vt:lpstr>
      <vt:lpstr> Case Studies </vt:lpstr>
      <vt:lpstr>PowerPoint Presentation</vt:lpstr>
      <vt:lpstr>Conclusion </vt:lpstr>
      <vt:lpstr>PowerPoint Presentation</vt:lpstr>
      <vt:lpstr>SAMPLE Q&amp;A</vt:lpstr>
      <vt:lpstr>PowerPoint Presentation</vt:lpstr>
      <vt:lpstr>BIBLIOGRAPHY </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SYS-154</dc:creator>
  <cp:lastModifiedBy>SYS-154</cp:lastModifiedBy>
  <cp:revision>5</cp:revision>
  <dcterms:created xsi:type="dcterms:W3CDTF">2024-10-10T08:33:10Z</dcterms:created>
  <dcterms:modified xsi:type="dcterms:W3CDTF">2024-10-11T05:42:11Z</dcterms:modified>
</cp:coreProperties>
</file>